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9.jpg"/><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4.jpg"/><Relationship Id="rId5"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5.jp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11061"/>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7419" l="-6435" r="0" t="-1022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13"/>
          <p:cNvSpPr txBox="1"/>
          <p:nvPr/>
        </p:nvSpPr>
        <p:spPr>
          <a:xfrm>
            <a:off x="3590025" y="520910"/>
            <a:ext cx="11107950" cy="6284221"/>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t/>
            </a:r>
            <a:endParaRPr sz="3223">
              <a:solidFill>
                <a:srgbClr val="FFFFFF"/>
              </a:solidFill>
              <a:latin typeface="Arial"/>
              <a:ea typeface="Arial"/>
              <a:cs typeface="Arial"/>
              <a:sym typeface="Arial"/>
            </a:endParaRPr>
          </a:p>
          <a:p>
            <a:pPr indent="0" lvl="0" marL="0" marR="0" rtl="0" algn="ctr">
              <a:lnSpc>
                <a:spcPct val="139993"/>
              </a:lnSpc>
              <a:spcBef>
                <a:spcPts val="0"/>
              </a:spcBef>
              <a:spcAft>
                <a:spcPts val="0"/>
              </a:spcAft>
              <a:buNone/>
            </a:pPr>
            <a:r>
              <a:t/>
            </a:r>
            <a:endParaRPr sz="3223">
              <a:solidFill>
                <a:srgbClr val="FFFFFF"/>
              </a:solidFill>
              <a:latin typeface="Arial"/>
              <a:ea typeface="Arial"/>
              <a:cs typeface="Arial"/>
              <a:sym typeface="Arial"/>
            </a:endParaRPr>
          </a:p>
          <a:p>
            <a:pPr indent="0" lvl="0" marL="0" marR="0" rtl="0" algn="ctr">
              <a:lnSpc>
                <a:spcPct val="139993"/>
              </a:lnSpc>
              <a:spcBef>
                <a:spcPts val="0"/>
              </a:spcBef>
              <a:spcAft>
                <a:spcPts val="0"/>
              </a:spcAft>
              <a:buNone/>
            </a:pPr>
            <a:r>
              <a:t/>
            </a:r>
            <a:endParaRPr sz="3223">
              <a:solidFill>
                <a:srgbClr val="FFFFFF"/>
              </a:solidFill>
              <a:latin typeface="Arial"/>
              <a:ea typeface="Arial"/>
              <a:cs typeface="Arial"/>
              <a:sym typeface="Arial"/>
            </a:endParaRPr>
          </a:p>
          <a:p>
            <a:pPr indent="0" lvl="0" marL="0" marR="0" rtl="0" algn="ctr">
              <a:lnSpc>
                <a:spcPct val="139993"/>
              </a:lnSpc>
              <a:spcBef>
                <a:spcPts val="0"/>
              </a:spcBef>
              <a:spcAft>
                <a:spcPts val="0"/>
              </a:spcAft>
              <a:buNone/>
            </a:pPr>
            <a:r>
              <a:t/>
            </a:r>
            <a:endParaRPr sz="3223">
              <a:solidFill>
                <a:srgbClr val="FFFFFF"/>
              </a:solidFill>
              <a:latin typeface="Arial"/>
              <a:ea typeface="Arial"/>
              <a:cs typeface="Arial"/>
              <a:sym typeface="Arial"/>
            </a:endParaRPr>
          </a:p>
          <a:p>
            <a:pPr indent="0" lvl="0" marL="0" marR="0" rtl="0" algn="ctr">
              <a:lnSpc>
                <a:spcPct val="139993"/>
              </a:lnSpc>
              <a:spcBef>
                <a:spcPts val="0"/>
              </a:spcBef>
              <a:spcAft>
                <a:spcPts val="0"/>
              </a:spcAft>
              <a:buNone/>
            </a:pPr>
            <a:r>
              <a:t/>
            </a:r>
            <a:endParaRPr sz="3223">
              <a:solidFill>
                <a:srgbClr val="FFFFFF"/>
              </a:solidFill>
              <a:latin typeface="Arial"/>
              <a:ea typeface="Arial"/>
              <a:cs typeface="Arial"/>
              <a:sym typeface="Arial"/>
            </a:endParaRPr>
          </a:p>
          <a:p>
            <a:pPr indent="0" lvl="0" marL="0" marR="0" rtl="0" algn="ctr">
              <a:lnSpc>
                <a:spcPct val="139993"/>
              </a:lnSpc>
              <a:spcBef>
                <a:spcPts val="0"/>
              </a:spcBef>
              <a:spcAft>
                <a:spcPts val="0"/>
              </a:spcAft>
              <a:buNone/>
            </a:pPr>
            <a:r>
              <a:t/>
            </a:r>
            <a:endParaRPr sz="3223">
              <a:solidFill>
                <a:srgbClr val="FFFFFF"/>
              </a:solidFill>
              <a:latin typeface="Arial"/>
              <a:ea typeface="Arial"/>
              <a:cs typeface="Arial"/>
              <a:sym typeface="Arial"/>
            </a:endParaRPr>
          </a:p>
          <a:p>
            <a:pPr indent="0" lvl="0" marL="0" marR="0" rtl="0" algn="ctr">
              <a:lnSpc>
                <a:spcPct val="139993"/>
              </a:lnSpc>
              <a:spcBef>
                <a:spcPts val="0"/>
              </a:spcBef>
              <a:spcAft>
                <a:spcPts val="0"/>
              </a:spcAft>
              <a:buNone/>
            </a:pPr>
            <a:r>
              <a:rPr lang="en-US" sz="3223">
                <a:solidFill>
                  <a:srgbClr val="FFFFFF"/>
                </a:solidFill>
                <a:latin typeface="Arial"/>
                <a:ea typeface="Arial"/>
                <a:cs typeface="Arial"/>
                <a:sym typeface="Arial"/>
              </a:rPr>
              <a:t>USING PYTHON &amp; MACHINE LEARNING ALGORITHMS TO PREDICT MARKET VALUE &amp; PERFORMANCE OF FOOTBALL PLAYERS</a:t>
            </a:r>
            <a:endParaRPr/>
          </a:p>
          <a:p>
            <a:pPr indent="0" lvl="0" marL="0" marR="0" rtl="0" algn="ctr">
              <a:lnSpc>
                <a:spcPct val="139993"/>
              </a:lnSpc>
              <a:spcBef>
                <a:spcPts val="0"/>
              </a:spcBef>
              <a:spcAft>
                <a:spcPts val="0"/>
              </a:spcAft>
              <a:buNone/>
            </a:pPr>
            <a:r>
              <a:rPr lang="en-US" sz="3223">
                <a:solidFill>
                  <a:srgbClr val="FFFFFF"/>
                </a:solidFill>
                <a:latin typeface="Arial"/>
                <a:ea typeface="Arial"/>
                <a:cs typeface="Arial"/>
                <a:sym typeface="Arial"/>
              </a:rPr>
              <a:t>BY</a:t>
            </a:r>
            <a:endParaRPr/>
          </a:p>
          <a:p>
            <a:pPr indent="0" lvl="0" marL="0" marR="0" rtl="0" algn="ctr">
              <a:lnSpc>
                <a:spcPct val="139993"/>
              </a:lnSpc>
              <a:spcBef>
                <a:spcPts val="0"/>
              </a:spcBef>
              <a:spcAft>
                <a:spcPts val="0"/>
              </a:spcAft>
              <a:buNone/>
            </a:pPr>
            <a:r>
              <a:rPr lang="en-US" sz="3223">
                <a:solidFill>
                  <a:srgbClr val="FFFFFF"/>
                </a:solidFill>
                <a:latin typeface="Arial"/>
                <a:ea typeface="Arial"/>
                <a:cs typeface="Arial"/>
                <a:sym typeface="Arial"/>
              </a:rPr>
              <a:t>EVANS AMOAH</a:t>
            </a:r>
            <a:endParaRPr/>
          </a:p>
          <a:p>
            <a:pPr indent="0" lvl="0" marL="0" marR="0" rtl="0" algn="ctr">
              <a:lnSpc>
                <a:spcPct val="139993"/>
              </a:lnSpc>
              <a:spcBef>
                <a:spcPts val="0"/>
              </a:spcBef>
              <a:spcAft>
                <a:spcPts val="0"/>
              </a:spcAft>
              <a:buNone/>
            </a:pPr>
            <a:r>
              <a:t/>
            </a:r>
            <a:endParaRPr sz="3223">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7419" l="-6435" r="0" t="-1022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14"/>
          <p:cNvSpPr txBox="1"/>
          <p:nvPr/>
        </p:nvSpPr>
        <p:spPr>
          <a:xfrm>
            <a:off x="641361" y="2124497"/>
            <a:ext cx="17005279" cy="5662063"/>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23">
                <a:solidFill>
                  <a:srgbClr val="FFFFFF"/>
                </a:solidFill>
                <a:latin typeface="Arial"/>
                <a:ea typeface="Arial"/>
                <a:cs typeface="Arial"/>
                <a:sym typeface="Arial"/>
              </a:rPr>
              <a:t>The market value and performance of footballers, is key in the football leagues due to the financial significance of player transfers.</a:t>
            </a:r>
            <a:endParaRPr/>
          </a:p>
          <a:p>
            <a:pPr indent="0" lvl="0" marL="0" marR="0" rtl="0" algn="ctr">
              <a:lnSpc>
                <a:spcPct val="139992"/>
              </a:lnSpc>
              <a:spcBef>
                <a:spcPts val="0"/>
              </a:spcBef>
              <a:spcAft>
                <a:spcPts val="0"/>
              </a:spcAft>
              <a:buNone/>
            </a:pPr>
            <a:r>
              <a:t/>
            </a:r>
            <a:endParaRPr sz="2623">
              <a:solidFill>
                <a:srgbClr val="FFFFFF"/>
              </a:solidFill>
              <a:latin typeface="Arial"/>
              <a:ea typeface="Arial"/>
              <a:cs typeface="Arial"/>
              <a:sym typeface="Arial"/>
            </a:endParaRPr>
          </a:p>
          <a:p>
            <a:pPr indent="0" lvl="0" marL="0" marR="0" rtl="0" algn="ctr">
              <a:lnSpc>
                <a:spcPct val="139992"/>
              </a:lnSpc>
              <a:spcBef>
                <a:spcPts val="0"/>
              </a:spcBef>
              <a:spcAft>
                <a:spcPts val="0"/>
              </a:spcAft>
              <a:buNone/>
            </a:pPr>
            <a:r>
              <a:rPr lang="en-US" sz="2623">
                <a:solidFill>
                  <a:srgbClr val="FFFFFF"/>
                </a:solidFill>
                <a:latin typeface="Arial"/>
                <a:ea typeface="Arial"/>
                <a:cs typeface="Arial"/>
                <a:sym typeface="Arial"/>
              </a:rPr>
              <a:t>It is important to understand how a player's market value correlates with their performance on the field.</a:t>
            </a:r>
            <a:endParaRPr/>
          </a:p>
          <a:p>
            <a:pPr indent="0" lvl="0" marL="0" marR="0" rtl="0" algn="ctr">
              <a:lnSpc>
                <a:spcPct val="139992"/>
              </a:lnSpc>
              <a:spcBef>
                <a:spcPts val="0"/>
              </a:spcBef>
              <a:spcAft>
                <a:spcPts val="0"/>
              </a:spcAft>
              <a:buNone/>
            </a:pPr>
            <a:r>
              <a:t/>
            </a:r>
            <a:endParaRPr sz="2623">
              <a:solidFill>
                <a:srgbClr val="FFFFFF"/>
              </a:solidFill>
              <a:latin typeface="Arial"/>
              <a:ea typeface="Arial"/>
              <a:cs typeface="Arial"/>
              <a:sym typeface="Arial"/>
            </a:endParaRPr>
          </a:p>
          <a:p>
            <a:pPr indent="0" lvl="0" marL="0" marR="0" rtl="0" algn="ctr">
              <a:lnSpc>
                <a:spcPct val="139992"/>
              </a:lnSpc>
              <a:spcBef>
                <a:spcPts val="0"/>
              </a:spcBef>
              <a:spcAft>
                <a:spcPts val="0"/>
              </a:spcAft>
              <a:buNone/>
            </a:pPr>
            <a:r>
              <a:rPr lang="en-US" sz="2623">
                <a:solidFill>
                  <a:srgbClr val="FFFFFF"/>
                </a:solidFill>
                <a:latin typeface="Arial"/>
                <a:ea typeface="Arial"/>
                <a:cs typeface="Arial"/>
                <a:sym typeface="Arial"/>
              </a:rPr>
              <a:t>In this project, we propose a new method to assess various soccer actions using play by play event data. We need  advanced player performance metrics to better capture a footballer's playing ability. </a:t>
            </a:r>
            <a:endParaRPr/>
          </a:p>
          <a:p>
            <a:pPr indent="0" lvl="0" marL="0" marR="0" rtl="0" algn="ctr">
              <a:lnSpc>
                <a:spcPct val="139992"/>
              </a:lnSpc>
              <a:spcBef>
                <a:spcPts val="0"/>
              </a:spcBef>
              <a:spcAft>
                <a:spcPts val="0"/>
              </a:spcAft>
              <a:buNone/>
            </a:pPr>
            <a:r>
              <a:t/>
            </a:r>
            <a:endParaRPr sz="2623">
              <a:solidFill>
                <a:srgbClr val="FFFFFF"/>
              </a:solidFill>
              <a:latin typeface="Arial"/>
              <a:ea typeface="Arial"/>
              <a:cs typeface="Arial"/>
              <a:sym typeface="Arial"/>
            </a:endParaRPr>
          </a:p>
          <a:p>
            <a:pPr indent="0" lvl="0" marL="0" marR="0" rtl="0" algn="ctr">
              <a:lnSpc>
                <a:spcPct val="139992"/>
              </a:lnSpc>
              <a:spcBef>
                <a:spcPts val="0"/>
              </a:spcBef>
              <a:spcAft>
                <a:spcPts val="0"/>
              </a:spcAft>
              <a:buNone/>
            </a:pPr>
            <a:r>
              <a:rPr lang="en-US" sz="2623">
                <a:solidFill>
                  <a:srgbClr val="FFFFFF"/>
                </a:solidFill>
                <a:latin typeface="Arial"/>
                <a:ea typeface="Arial"/>
                <a:cs typeface="Arial"/>
                <a:sym typeface="Arial"/>
              </a:rPr>
              <a:t>Additionally, we use machine learning algorithms to determine prediction accuracy beyond traditional Linear regression methods.</a:t>
            </a:r>
            <a:endParaRPr/>
          </a:p>
          <a:p>
            <a:pPr indent="0" lvl="0" marL="0" marR="0" rtl="0" algn="ctr">
              <a:lnSpc>
                <a:spcPct val="139992"/>
              </a:lnSpc>
              <a:spcBef>
                <a:spcPts val="0"/>
              </a:spcBef>
              <a:spcAft>
                <a:spcPts val="0"/>
              </a:spcAft>
              <a:buNone/>
            </a:pPr>
            <a:r>
              <a:t/>
            </a:r>
            <a:endParaRPr sz="2623">
              <a:solidFill>
                <a:srgbClr val="FFFFFF"/>
              </a:solidFill>
              <a:latin typeface="Arial"/>
              <a:ea typeface="Arial"/>
              <a:cs typeface="Arial"/>
              <a:sym typeface="Arial"/>
            </a:endParaRPr>
          </a:p>
          <a:p>
            <a:pPr indent="0" lvl="0" marL="0" marR="0" rtl="0" algn="ctr">
              <a:lnSpc>
                <a:spcPct val="139992"/>
              </a:lnSpc>
              <a:spcBef>
                <a:spcPts val="0"/>
              </a:spcBef>
              <a:spcAft>
                <a:spcPts val="0"/>
              </a:spcAft>
              <a:buNone/>
            </a:pPr>
            <a:r>
              <a:rPr lang="en-US" sz="2623">
                <a:solidFill>
                  <a:srgbClr val="FFFFFF"/>
                </a:solidFill>
                <a:latin typeface="Arial"/>
                <a:ea typeface="Arial"/>
                <a:cs typeface="Arial"/>
                <a:sym typeface="Arial"/>
              </a:rPr>
              <a:t>This project focuses on determining the value of a football player to a club. </a:t>
            </a:r>
            <a:endParaRPr/>
          </a:p>
        </p:txBody>
      </p:sp>
      <p:sp>
        <p:nvSpPr>
          <p:cNvPr id="92" name="Google Shape;92;p14"/>
          <p:cNvSpPr txBox="1"/>
          <p:nvPr/>
        </p:nvSpPr>
        <p:spPr>
          <a:xfrm>
            <a:off x="6863275" y="216850"/>
            <a:ext cx="53865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000">
                <a:solidFill>
                  <a:srgbClr val="FFFFFF"/>
                </a:solidFill>
                <a:latin typeface="Arial"/>
                <a:ea typeface="Arial"/>
                <a:cs typeface="Arial"/>
                <a:sym typeface="Arial"/>
              </a:rPr>
              <a:t>ABSTRA</a:t>
            </a:r>
            <a:r>
              <a:rPr lang="en-US" sz="6000">
                <a:solidFill>
                  <a:srgbClr val="FFFFFF"/>
                </a:solidFill>
              </a:rPr>
              <a:t>C</a:t>
            </a:r>
            <a:r>
              <a:rPr lang="en-US" sz="6000">
                <a:solidFill>
                  <a:srgbClr val="FFFFFF"/>
                </a:solidFill>
                <a:latin typeface="Arial"/>
                <a:ea typeface="Arial"/>
                <a:cs typeface="Arial"/>
                <a:sym typeface="Arial"/>
              </a:rPr>
              <a:t>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p:nvPr/>
        </p:nvSpPr>
        <p:spPr>
          <a:xfrm>
            <a:off x="0" y="1076948"/>
            <a:ext cx="18288000" cy="9210052"/>
          </a:xfrm>
          <a:custGeom>
            <a:rect b="b" l="l" r="r" t="t"/>
            <a:pathLst>
              <a:path extrusionOk="0" h="9210052" w="18288000">
                <a:moveTo>
                  <a:pt x="0" y="0"/>
                </a:moveTo>
                <a:lnTo>
                  <a:pt x="18288000" y="0"/>
                </a:lnTo>
                <a:lnTo>
                  <a:pt x="18288000" y="9210052"/>
                </a:lnTo>
                <a:lnTo>
                  <a:pt x="0" y="9210052"/>
                </a:lnTo>
                <a:lnTo>
                  <a:pt x="0" y="0"/>
                </a:lnTo>
                <a:close/>
              </a:path>
            </a:pathLst>
          </a:custGeom>
          <a:blipFill rotWithShape="1">
            <a:blip r:embed="rId3">
              <a:alphaModFix/>
            </a:blip>
            <a:stretch>
              <a:fillRect b="-335" l="-279" r="0" t="-1166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5267" l="0" r="0" t="-526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15"/>
          <p:cNvSpPr/>
          <p:nvPr/>
        </p:nvSpPr>
        <p:spPr>
          <a:xfrm>
            <a:off x="0" y="0"/>
            <a:ext cx="5701518" cy="10287000"/>
          </a:xfrm>
          <a:custGeom>
            <a:rect b="b" l="l" r="r" t="t"/>
            <a:pathLst>
              <a:path extrusionOk="0" h="10287000" w="5701518">
                <a:moveTo>
                  <a:pt x="0" y="0"/>
                </a:moveTo>
                <a:lnTo>
                  <a:pt x="5701518" y="0"/>
                </a:lnTo>
                <a:lnTo>
                  <a:pt x="5701518" y="10287000"/>
                </a:lnTo>
                <a:lnTo>
                  <a:pt x="0" y="10287000"/>
                </a:lnTo>
                <a:lnTo>
                  <a:pt x="0" y="0"/>
                </a:lnTo>
                <a:close/>
              </a:path>
            </a:pathLst>
          </a:custGeom>
          <a:blipFill rotWithShape="1">
            <a:blip r:embed="rId5">
              <a:alphaModFix/>
            </a:blip>
            <a:stretch>
              <a:fillRect b="0" l="-94916" r="-9359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15"/>
          <p:cNvSpPr txBox="1"/>
          <p:nvPr/>
        </p:nvSpPr>
        <p:spPr>
          <a:xfrm>
            <a:off x="6084570" y="706107"/>
            <a:ext cx="6769920" cy="73849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4300">
                <a:solidFill>
                  <a:srgbClr val="FFFFFF"/>
                </a:solidFill>
                <a:latin typeface="Arial"/>
                <a:ea typeface="Arial"/>
                <a:cs typeface="Arial"/>
                <a:sym typeface="Arial"/>
              </a:rPr>
              <a:t>TABLE OF CONTENTS</a:t>
            </a:r>
            <a:endParaRPr/>
          </a:p>
        </p:txBody>
      </p:sp>
      <p:sp>
        <p:nvSpPr>
          <p:cNvPr id="101" name="Google Shape;101;p15"/>
          <p:cNvSpPr txBox="1"/>
          <p:nvPr/>
        </p:nvSpPr>
        <p:spPr>
          <a:xfrm>
            <a:off x="6084570" y="1660322"/>
            <a:ext cx="11462976" cy="8823056"/>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399">
                <a:solidFill>
                  <a:srgbClr val="FFFFFF"/>
                </a:solidFill>
                <a:latin typeface="Arial"/>
                <a:ea typeface="Arial"/>
                <a:cs typeface="Arial"/>
                <a:sym typeface="Arial"/>
              </a:rPr>
              <a:t>CHAPTER 1: </a:t>
            </a:r>
            <a:endParaRPr/>
          </a:p>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Introduction.</a:t>
            </a:r>
            <a:endParaRPr/>
          </a:p>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Statement of the Problem.</a:t>
            </a:r>
            <a:endParaRPr/>
          </a:p>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Research Questions &amp; Objectives.</a:t>
            </a:r>
            <a:endParaRPr/>
          </a:p>
          <a:p>
            <a:pPr indent="0" lvl="0" marL="0" marR="0" rtl="0" algn="ctr">
              <a:lnSpc>
                <a:spcPct val="140011"/>
              </a:lnSpc>
              <a:spcBef>
                <a:spcPts val="0"/>
              </a:spcBef>
              <a:spcAft>
                <a:spcPts val="0"/>
              </a:spcAft>
              <a:buNone/>
            </a:pPr>
            <a:r>
              <a:rPr lang="en-US" sz="3399">
                <a:solidFill>
                  <a:srgbClr val="FFFFFF"/>
                </a:solidFill>
                <a:latin typeface="Arial"/>
                <a:ea typeface="Arial"/>
                <a:cs typeface="Arial"/>
                <a:sym typeface="Arial"/>
              </a:rPr>
              <a:t>CHAPTER 2:</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Data Collection &amp; Preparation, Exploratory Data Analysis, Feature Selection, Feature Engineering, Model Training.</a:t>
            </a:r>
            <a:endParaRPr/>
          </a:p>
          <a:p>
            <a:pPr indent="0" lvl="0" marL="0" marR="0" rtl="0" algn="ctr">
              <a:lnSpc>
                <a:spcPct val="140011"/>
              </a:lnSpc>
              <a:spcBef>
                <a:spcPts val="0"/>
              </a:spcBef>
              <a:spcAft>
                <a:spcPts val="0"/>
              </a:spcAft>
              <a:buNone/>
            </a:pPr>
            <a:r>
              <a:rPr lang="en-US" sz="3399">
                <a:solidFill>
                  <a:srgbClr val="FFFFFF"/>
                </a:solidFill>
                <a:latin typeface="Arial"/>
                <a:ea typeface="Arial"/>
                <a:cs typeface="Arial"/>
                <a:sym typeface="Arial"/>
              </a:rPr>
              <a:t>CHAPTER 3:</a:t>
            </a:r>
            <a:endParaRPr/>
          </a:p>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Results &amp; Discussion</a:t>
            </a:r>
            <a:endParaRPr/>
          </a:p>
          <a:p>
            <a:pPr indent="0" lvl="0" marL="0" marR="0" rtl="0" algn="ctr">
              <a:lnSpc>
                <a:spcPct val="148718"/>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53093"/>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t/>
            </a:r>
            <a:endParaRPr sz="3200">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228" l="-6435" r="0" t="-741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16"/>
          <p:cNvSpPr/>
          <p:nvPr/>
        </p:nvSpPr>
        <p:spPr>
          <a:xfrm>
            <a:off x="13506789" y="0"/>
            <a:ext cx="4781211" cy="10287000"/>
          </a:xfrm>
          <a:custGeom>
            <a:rect b="b" l="l" r="r" t="t"/>
            <a:pathLst>
              <a:path extrusionOk="0" h="10287000" w="4781211">
                <a:moveTo>
                  <a:pt x="0" y="0"/>
                </a:moveTo>
                <a:lnTo>
                  <a:pt x="4781211" y="0"/>
                </a:lnTo>
                <a:lnTo>
                  <a:pt x="4781211" y="10287000"/>
                </a:lnTo>
                <a:lnTo>
                  <a:pt x="0" y="10287000"/>
                </a:lnTo>
                <a:lnTo>
                  <a:pt x="0" y="0"/>
                </a:lnTo>
                <a:close/>
              </a:path>
            </a:pathLst>
          </a:custGeom>
          <a:blipFill rotWithShape="1">
            <a:blip r:embed="rId4">
              <a:alphaModFix/>
            </a:blip>
            <a:stretch>
              <a:fillRect b="0" l="-124449" r="-11995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16"/>
          <p:cNvSpPr txBox="1"/>
          <p:nvPr/>
        </p:nvSpPr>
        <p:spPr>
          <a:xfrm>
            <a:off x="5478780" y="-26657"/>
            <a:ext cx="3665220" cy="857414"/>
          </a:xfrm>
          <a:prstGeom prst="rect">
            <a:avLst/>
          </a:prstGeom>
          <a:noFill/>
          <a:ln>
            <a:noFill/>
          </a:ln>
        </p:spPr>
        <p:txBody>
          <a:bodyPr anchorCtr="0" anchor="t" bIns="0" lIns="0" spcFirstLastPara="1" rIns="0" wrap="square" tIns="0">
            <a:spAutoFit/>
          </a:bodyPr>
          <a:lstStyle/>
          <a:p>
            <a:pPr indent="0" lvl="0" marL="0" marR="0" rtl="0" algn="ctr">
              <a:lnSpc>
                <a:spcPct val="168636"/>
              </a:lnSpc>
              <a:spcBef>
                <a:spcPts val="0"/>
              </a:spcBef>
              <a:spcAft>
                <a:spcPts val="0"/>
              </a:spcAft>
              <a:buNone/>
            </a:pPr>
            <a:r>
              <a:rPr lang="en-US" sz="4400">
                <a:solidFill>
                  <a:srgbClr val="FFFFFF"/>
                </a:solidFill>
                <a:latin typeface="Arial"/>
                <a:ea typeface="Arial"/>
                <a:cs typeface="Arial"/>
                <a:sym typeface="Arial"/>
              </a:rPr>
              <a:t>CHAPTER 1</a:t>
            </a:r>
            <a:endParaRPr/>
          </a:p>
        </p:txBody>
      </p:sp>
      <p:sp>
        <p:nvSpPr>
          <p:cNvPr id="109" name="Google Shape;109;p16"/>
          <p:cNvSpPr txBox="1"/>
          <p:nvPr/>
        </p:nvSpPr>
        <p:spPr>
          <a:xfrm>
            <a:off x="5242106" y="952500"/>
            <a:ext cx="3764280" cy="615681"/>
          </a:xfrm>
          <a:prstGeom prst="rect">
            <a:avLst/>
          </a:prstGeom>
          <a:noFill/>
          <a:ln>
            <a:noFill/>
          </a:ln>
        </p:spPr>
        <p:txBody>
          <a:bodyPr anchorCtr="0" anchor="t" bIns="0" lIns="0" spcFirstLastPara="1" rIns="0" wrap="square" tIns="0">
            <a:spAutoFit/>
          </a:bodyPr>
          <a:lstStyle/>
          <a:p>
            <a:pPr indent="0" lvl="0" marL="0" marR="0" rtl="0" algn="ctr">
              <a:lnSpc>
                <a:spcPct val="166250"/>
              </a:lnSpc>
              <a:spcBef>
                <a:spcPts val="0"/>
              </a:spcBef>
              <a:spcAft>
                <a:spcPts val="0"/>
              </a:spcAft>
              <a:buNone/>
            </a:pPr>
            <a:r>
              <a:rPr lang="en-US" sz="3200">
                <a:solidFill>
                  <a:srgbClr val="FFFFFF"/>
                </a:solidFill>
                <a:latin typeface="Arial"/>
                <a:ea typeface="Arial"/>
                <a:cs typeface="Arial"/>
                <a:sym typeface="Arial"/>
              </a:rPr>
              <a:t>INTRODUCTION</a:t>
            </a:r>
            <a:endParaRPr/>
          </a:p>
        </p:txBody>
      </p:sp>
      <p:sp>
        <p:nvSpPr>
          <p:cNvPr id="110" name="Google Shape;110;p16"/>
          <p:cNvSpPr txBox="1"/>
          <p:nvPr/>
        </p:nvSpPr>
        <p:spPr>
          <a:xfrm>
            <a:off x="0" y="2139633"/>
            <a:ext cx="13506789" cy="74485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Soccer poses unique  challenges for analysis due to its large</a:t>
            </a:r>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field, numerous players and  sparse scoring. </a:t>
            </a:r>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A major task of sports statistics is player evaluation, which provides insight into the performance of a player. </a:t>
            </a:r>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Nowadays, the value driver of transfer prices in football</a:t>
            </a:r>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in general, has gradually evolved from performance to popularity.</a:t>
            </a:r>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The overwhelming increase in transfers value of top</a:t>
            </a:r>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players has been recognized in recent years as the superstar phenomenon. </a:t>
            </a:r>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228" l="-6435" r="0" t="-741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17"/>
          <p:cNvSpPr/>
          <p:nvPr/>
        </p:nvSpPr>
        <p:spPr>
          <a:xfrm>
            <a:off x="12086922" y="76200"/>
            <a:ext cx="6201078" cy="13413969"/>
          </a:xfrm>
          <a:custGeom>
            <a:rect b="b" l="l" r="r" t="t"/>
            <a:pathLst>
              <a:path extrusionOk="0" h="13413969" w="6201078">
                <a:moveTo>
                  <a:pt x="0" y="0"/>
                </a:moveTo>
                <a:lnTo>
                  <a:pt x="6201078" y="0"/>
                </a:lnTo>
                <a:lnTo>
                  <a:pt x="6201078" y="13413969"/>
                </a:lnTo>
                <a:lnTo>
                  <a:pt x="0" y="13413969"/>
                </a:lnTo>
                <a:lnTo>
                  <a:pt x="0" y="0"/>
                </a:lnTo>
                <a:close/>
              </a:path>
            </a:pathLst>
          </a:custGeom>
          <a:blipFill rotWithShape="1">
            <a:blip r:embed="rId4">
              <a:alphaModFix/>
            </a:blip>
            <a:stretch>
              <a:fillRect b="0" l="-227745" r="-23947" t="-2681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17"/>
          <p:cNvSpPr txBox="1"/>
          <p:nvPr/>
        </p:nvSpPr>
        <p:spPr>
          <a:xfrm>
            <a:off x="1803199" y="127650"/>
            <a:ext cx="9564300" cy="66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4300" u="none" strike="noStrike">
                <a:solidFill>
                  <a:srgbClr val="000000"/>
                </a:solidFill>
                <a:latin typeface="Arial"/>
                <a:ea typeface="Arial"/>
                <a:cs typeface="Arial"/>
                <a:sym typeface="Arial"/>
              </a:rPr>
              <a:t> </a:t>
            </a:r>
            <a:r>
              <a:rPr lang="en-US" sz="4300" u="none" strike="noStrike">
                <a:solidFill>
                  <a:srgbClr val="F2EFEB"/>
                </a:solidFill>
                <a:latin typeface="Arial"/>
                <a:ea typeface="Arial"/>
                <a:cs typeface="Arial"/>
                <a:sym typeface="Arial"/>
              </a:rPr>
              <a:t>STATEMENT OF THE PROBLEM</a:t>
            </a:r>
            <a:endParaRPr/>
          </a:p>
        </p:txBody>
      </p:sp>
      <p:sp>
        <p:nvSpPr>
          <p:cNvPr id="118" name="Google Shape;118;p17"/>
          <p:cNvSpPr txBox="1"/>
          <p:nvPr/>
        </p:nvSpPr>
        <p:spPr>
          <a:xfrm>
            <a:off x="477877" y="1172761"/>
            <a:ext cx="11354294" cy="995445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The transfer fees of football players are getting higher and higher each year  and getting a good valuation of footballers throughout the year is valuable.</a:t>
            </a:r>
            <a:endParaRPr/>
          </a:p>
          <a:p>
            <a:pPr indent="0" lvl="0" marL="0" marR="0" rtl="0" algn="ctr">
              <a:lnSpc>
                <a:spcPct val="140000"/>
              </a:lnSpc>
              <a:spcBef>
                <a:spcPts val="0"/>
              </a:spcBef>
              <a:spcAft>
                <a:spcPts val="0"/>
              </a:spcAft>
              <a:buNone/>
            </a:pPr>
            <a:r>
              <a:t/>
            </a:r>
            <a:endParaRPr sz="29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It is relevant to consider how the market value of a player relates to the performance of that player.</a:t>
            </a:r>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Performance evaluation is important for team management and fan engagement.</a:t>
            </a:r>
            <a:endParaRPr/>
          </a:p>
          <a:p>
            <a:pPr indent="0" lvl="0" marL="0" marR="0" rtl="0" algn="ctr">
              <a:lnSpc>
                <a:spcPct val="140000"/>
              </a:lnSpc>
              <a:spcBef>
                <a:spcPts val="0"/>
              </a:spcBef>
              <a:spcAft>
                <a:spcPts val="0"/>
              </a:spcAft>
              <a:buNone/>
            </a:pPr>
            <a:r>
              <a:t/>
            </a:r>
            <a:endParaRPr sz="29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Our main task is to find good regression models for both market value and performance.</a:t>
            </a:r>
            <a:endParaRPr/>
          </a:p>
          <a:p>
            <a:pPr indent="0" lvl="0" marL="0" marR="0" rtl="0" algn="ctr">
              <a:lnSpc>
                <a:spcPct val="140000"/>
              </a:lnSpc>
              <a:spcBef>
                <a:spcPts val="0"/>
              </a:spcBef>
              <a:spcAft>
                <a:spcPts val="0"/>
              </a:spcAft>
              <a:buNone/>
            </a:pPr>
            <a:r>
              <a:t/>
            </a:r>
            <a:endParaRPr sz="29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The centre of our challenge lies in the development of a good regression model to predict market value and performance of a football player. </a:t>
            </a:r>
            <a:endParaRPr/>
          </a:p>
          <a:p>
            <a:pPr indent="0" lvl="0" marL="0" marR="0" rtl="0" algn="ctr">
              <a:lnSpc>
                <a:spcPct val="140000"/>
              </a:lnSpc>
              <a:spcBef>
                <a:spcPts val="0"/>
              </a:spcBef>
              <a:spcAft>
                <a:spcPts val="0"/>
              </a:spcAft>
              <a:buNone/>
            </a:pPr>
            <a:r>
              <a:t/>
            </a:r>
            <a:endParaRPr sz="29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   </a:t>
            </a:r>
            <a:endParaRPr/>
          </a:p>
          <a:p>
            <a:pPr indent="0" lvl="0" marL="0" marR="0" rtl="0" algn="ctr">
              <a:lnSpc>
                <a:spcPct val="140000"/>
              </a:lnSpc>
              <a:spcBef>
                <a:spcPts val="0"/>
              </a:spcBef>
              <a:spcAft>
                <a:spcPts val="0"/>
              </a:spcAft>
              <a:buNone/>
            </a:pPr>
            <a:r>
              <a:t/>
            </a:r>
            <a:endParaRPr sz="29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t/>
            </a:r>
            <a:endParaRPr sz="2900">
              <a:solidFill>
                <a:srgbClr val="FFFFF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7419" l="-6435" r="0" t="-1022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18"/>
          <p:cNvSpPr/>
          <p:nvPr/>
        </p:nvSpPr>
        <p:spPr>
          <a:xfrm>
            <a:off x="0" y="-11062"/>
            <a:ext cx="7301347" cy="10287000"/>
          </a:xfrm>
          <a:custGeom>
            <a:rect b="b" l="l" r="r" t="t"/>
            <a:pathLst>
              <a:path extrusionOk="0" h="10287000" w="7301347">
                <a:moveTo>
                  <a:pt x="0" y="0"/>
                </a:moveTo>
                <a:lnTo>
                  <a:pt x="7301347" y="0"/>
                </a:lnTo>
                <a:lnTo>
                  <a:pt x="7301347" y="10287000"/>
                </a:lnTo>
                <a:lnTo>
                  <a:pt x="0" y="10287000"/>
                </a:lnTo>
                <a:lnTo>
                  <a:pt x="0" y="0"/>
                </a:lnTo>
                <a:close/>
              </a:path>
            </a:pathLst>
          </a:custGeom>
          <a:blipFill rotWithShape="1">
            <a:blip r:embed="rId4">
              <a:alphaModFix/>
            </a:blip>
            <a:stretch>
              <a:fillRect b="0" l="-71276" r="-5434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18"/>
          <p:cNvSpPr txBox="1"/>
          <p:nvPr/>
        </p:nvSpPr>
        <p:spPr>
          <a:xfrm>
            <a:off x="6429043" y="1"/>
            <a:ext cx="5749290" cy="654153"/>
          </a:xfrm>
          <a:prstGeom prst="rect">
            <a:avLst/>
          </a:prstGeom>
          <a:noFill/>
          <a:ln>
            <a:noFill/>
          </a:ln>
        </p:spPr>
        <p:txBody>
          <a:bodyPr anchorCtr="0" anchor="t" bIns="0" lIns="0" spcFirstLastPara="1" rIns="0" wrap="square" tIns="0">
            <a:spAutoFit/>
          </a:bodyPr>
          <a:lstStyle/>
          <a:p>
            <a:pPr indent="0" lvl="0" marL="0" marR="0" rtl="0" algn="ctr">
              <a:lnSpc>
                <a:spcPct val="205000"/>
              </a:lnSpc>
              <a:spcBef>
                <a:spcPts val="0"/>
              </a:spcBef>
              <a:spcAft>
                <a:spcPts val="0"/>
              </a:spcAft>
              <a:buNone/>
            </a:pPr>
            <a:r>
              <a:rPr lang="en-US" sz="2800">
                <a:solidFill>
                  <a:srgbClr val="FFFFFF"/>
                </a:solidFill>
                <a:latin typeface="Arial"/>
                <a:ea typeface="Arial"/>
                <a:cs typeface="Arial"/>
                <a:sym typeface="Arial"/>
              </a:rPr>
              <a:t>RESEARCH QUSTIONS</a:t>
            </a:r>
            <a:endParaRPr/>
          </a:p>
        </p:txBody>
      </p:sp>
      <p:sp>
        <p:nvSpPr>
          <p:cNvPr id="126" name="Google Shape;126;p18"/>
          <p:cNvSpPr txBox="1"/>
          <p:nvPr/>
        </p:nvSpPr>
        <p:spPr>
          <a:xfrm>
            <a:off x="3962400" y="1045734"/>
            <a:ext cx="12878060" cy="2833853"/>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2800">
                <a:solidFill>
                  <a:srgbClr val="FFFFFF"/>
                </a:solidFill>
                <a:latin typeface="Arial"/>
                <a:ea typeface="Arial"/>
                <a:cs typeface="Arial"/>
                <a:sym typeface="Arial"/>
              </a:rPr>
              <a:t>What are  the  major attributes to the players’ market value?</a:t>
            </a:r>
            <a:endParaRPr/>
          </a:p>
          <a:p>
            <a:pPr indent="0" lvl="0" marL="0" marR="0" rtl="0" algn="ctr">
              <a:lnSpc>
                <a:spcPct val="248888"/>
              </a:lnSpc>
              <a:spcBef>
                <a:spcPts val="0"/>
              </a:spcBef>
              <a:spcAft>
                <a:spcPts val="0"/>
              </a:spcAft>
              <a:buNone/>
            </a:pPr>
            <a:r>
              <a:t/>
            </a:r>
            <a:endParaRPr sz="1800">
              <a:solidFill>
                <a:srgbClr val="FFFFFF"/>
              </a:solidFill>
              <a:latin typeface="Arial"/>
              <a:ea typeface="Arial"/>
              <a:cs typeface="Arial"/>
              <a:sym typeface="Arial"/>
            </a:endParaRPr>
          </a:p>
          <a:p>
            <a:pPr indent="0" lvl="0" marL="0" marR="0" rtl="0" algn="ctr">
              <a:lnSpc>
                <a:spcPct val="160000"/>
              </a:lnSpc>
              <a:spcBef>
                <a:spcPts val="0"/>
              </a:spcBef>
              <a:spcAft>
                <a:spcPts val="0"/>
              </a:spcAft>
              <a:buNone/>
            </a:pPr>
            <a:r>
              <a:rPr lang="en-US" sz="2800">
                <a:solidFill>
                  <a:srgbClr val="FFFFFF"/>
                </a:solidFill>
                <a:latin typeface="Arial"/>
                <a:ea typeface="Arial"/>
                <a:cs typeface="Arial"/>
                <a:sym typeface="Arial"/>
              </a:rPr>
              <a:t>How to evaluate a players’ performance?</a:t>
            </a:r>
            <a:endParaRPr/>
          </a:p>
          <a:p>
            <a:pPr indent="0" lvl="0" marL="0" marR="0" rtl="0" algn="ctr">
              <a:lnSpc>
                <a:spcPct val="160000"/>
              </a:lnSpc>
              <a:spcBef>
                <a:spcPts val="0"/>
              </a:spcBef>
              <a:spcAft>
                <a:spcPts val="0"/>
              </a:spcAft>
              <a:buNone/>
            </a:pPr>
            <a:r>
              <a:t/>
            </a:r>
            <a:endParaRPr sz="2800">
              <a:solidFill>
                <a:srgbClr val="FFFFFF"/>
              </a:solidFill>
              <a:latin typeface="Arial"/>
              <a:ea typeface="Arial"/>
              <a:cs typeface="Arial"/>
              <a:sym typeface="Arial"/>
            </a:endParaRPr>
          </a:p>
          <a:p>
            <a:pPr indent="0" lvl="0" marL="0" marR="0" rtl="0" algn="ctr">
              <a:lnSpc>
                <a:spcPct val="160000"/>
              </a:lnSpc>
              <a:spcBef>
                <a:spcPts val="0"/>
              </a:spcBef>
              <a:spcAft>
                <a:spcPts val="0"/>
              </a:spcAft>
              <a:buNone/>
            </a:pPr>
            <a:r>
              <a:rPr lang="en-US" sz="2800">
                <a:solidFill>
                  <a:srgbClr val="FFFFFF"/>
                </a:solidFill>
                <a:latin typeface="Arial"/>
                <a:ea typeface="Arial"/>
                <a:cs typeface="Arial"/>
                <a:sym typeface="Arial"/>
              </a:rPr>
              <a:t>What machine learning is best to predict market value and performance?</a:t>
            </a:r>
            <a:endParaRPr/>
          </a:p>
        </p:txBody>
      </p:sp>
      <p:sp>
        <p:nvSpPr>
          <p:cNvPr id="127" name="Google Shape;127;p18"/>
          <p:cNvSpPr txBox="1"/>
          <p:nvPr/>
        </p:nvSpPr>
        <p:spPr>
          <a:xfrm>
            <a:off x="6429042" y="4678369"/>
            <a:ext cx="6278880" cy="73849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4300">
                <a:solidFill>
                  <a:srgbClr val="FFFFFF"/>
                </a:solidFill>
                <a:latin typeface="Arial"/>
                <a:ea typeface="Arial"/>
                <a:cs typeface="Arial"/>
                <a:sym typeface="Arial"/>
              </a:rPr>
              <a:t>AIMS AND OBJECTIVES</a:t>
            </a:r>
            <a:endParaRPr/>
          </a:p>
        </p:txBody>
      </p:sp>
      <p:sp>
        <p:nvSpPr>
          <p:cNvPr id="128" name="Google Shape;128;p18"/>
          <p:cNvSpPr txBox="1"/>
          <p:nvPr/>
        </p:nvSpPr>
        <p:spPr>
          <a:xfrm>
            <a:off x="2659865" y="5515610"/>
            <a:ext cx="15150258" cy="3250185"/>
          </a:xfrm>
          <a:prstGeom prst="rect">
            <a:avLst/>
          </a:prstGeom>
          <a:noFill/>
          <a:ln>
            <a:noFill/>
          </a:ln>
        </p:spPr>
        <p:txBody>
          <a:bodyPr anchorCtr="0" anchor="t" bIns="0" lIns="0" spcFirstLastPara="1" rIns="0" wrap="square" tIns="0">
            <a:spAutoFit/>
          </a:bodyPr>
          <a:lstStyle/>
          <a:p>
            <a:pPr indent="0" lvl="0" marL="0" marR="0" rtl="0" algn="ctr">
              <a:lnSpc>
                <a:spcPct val="180833"/>
              </a:lnSpc>
              <a:spcBef>
                <a:spcPts val="0"/>
              </a:spcBef>
              <a:spcAft>
                <a:spcPts val="0"/>
              </a:spcAft>
              <a:buNone/>
            </a:pPr>
            <a:r>
              <a:rPr lang="en-US" sz="2400">
                <a:solidFill>
                  <a:srgbClr val="FFFFFF"/>
                </a:solidFill>
                <a:latin typeface="Arial"/>
                <a:ea typeface="Arial"/>
                <a:cs typeface="Arial"/>
                <a:sym typeface="Arial"/>
              </a:rPr>
              <a:t>We require existing datasets containing a player’s basic information (name, team,  Age, height, weight) </a:t>
            </a:r>
            <a:endParaRPr/>
          </a:p>
          <a:p>
            <a:pPr indent="0" lvl="0" marL="0" marR="0" rtl="0" algn="ctr">
              <a:lnSpc>
                <a:spcPct val="180833"/>
              </a:lnSpc>
              <a:spcBef>
                <a:spcPts val="0"/>
              </a:spcBef>
              <a:spcAft>
                <a:spcPts val="0"/>
              </a:spcAft>
              <a:buNone/>
            </a:pPr>
            <a:r>
              <a:t/>
            </a:r>
            <a:endParaRPr sz="2400">
              <a:solidFill>
                <a:srgbClr val="FFFFFF"/>
              </a:solidFill>
              <a:latin typeface="Arial"/>
              <a:ea typeface="Arial"/>
              <a:cs typeface="Arial"/>
              <a:sym typeface="Arial"/>
            </a:endParaRPr>
          </a:p>
          <a:p>
            <a:pPr indent="0" lvl="0" marL="0" marR="0" rtl="0" algn="ctr">
              <a:lnSpc>
                <a:spcPct val="180833"/>
              </a:lnSpc>
              <a:spcBef>
                <a:spcPts val="0"/>
              </a:spcBef>
              <a:spcAft>
                <a:spcPts val="0"/>
              </a:spcAft>
              <a:buNone/>
            </a:pPr>
            <a:r>
              <a:rPr lang="en-US" sz="2400">
                <a:solidFill>
                  <a:srgbClr val="FFFFFF"/>
                </a:solidFill>
                <a:latin typeface="Arial"/>
                <a:ea typeface="Arial"/>
                <a:cs typeface="Arial"/>
                <a:sym typeface="Arial"/>
              </a:rPr>
              <a:t>market information (transfer fee, former team, duration of the contract, when the player joined the team) and</a:t>
            </a:r>
            <a:endParaRPr/>
          </a:p>
          <a:p>
            <a:pPr indent="0" lvl="0" marL="0" marR="0" rtl="0" algn="ctr">
              <a:lnSpc>
                <a:spcPct val="180833"/>
              </a:lnSpc>
              <a:spcBef>
                <a:spcPts val="0"/>
              </a:spcBef>
              <a:spcAft>
                <a:spcPts val="0"/>
              </a:spcAft>
              <a:buNone/>
            </a:pPr>
            <a:r>
              <a:rPr lang="en-US" sz="2400">
                <a:solidFill>
                  <a:srgbClr val="FFFFFF"/>
                </a:solidFill>
                <a:latin typeface="Arial"/>
                <a:ea typeface="Arial"/>
                <a:cs typeface="Arial"/>
                <a:sym typeface="Arial"/>
              </a:rPr>
              <a:t> </a:t>
            </a:r>
            <a:endParaRPr/>
          </a:p>
          <a:p>
            <a:pPr indent="0" lvl="0" marL="0" marR="0" rtl="0" algn="ctr">
              <a:lnSpc>
                <a:spcPct val="180833"/>
              </a:lnSpc>
              <a:spcBef>
                <a:spcPts val="0"/>
              </a:spcBef>
              <a:spcAft>
                <a:spcPts val="0"/>
              </a:spcAft>
              <a:buNone/>
            </a:pPr>
            <a:r>
              <a:rPr lang="en-US" sz="2400">
                <a:solidFill>
                  <a:srgbClr val="FFFFFF"/>
                </a:solidFill>
                <a:latin typeface="Arial"/>
                <a:ea typeface="Arial"/>
                <a:cs typeface="Arial"/>
                <a:sym typeface="Arial"/>
              </a:rPr>
              <a:t>performance information (on pitch time, actions at the ball, fouls, scores)</a:t>
            </a:r>
            <a:endParaRPr sz="3100">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32" name="Shape 132"/>
        <p:cNvGrpSpPr/>
        <p:nvPr/>
      </p:nvGrpSpPr>
      <p:grpSpPr>
        <a:xfrm>
          <a:off x="0" y="0"/>
          <a:ext cx="0" cy="0"/>
          <a:chOff x="0" y="0"/>
          <a:chExt cx="0" cy="0"/>
        </a:xfrm>
      </p:grpSpPr>
      <p:sp>
        <p:nvSpPr>
          <p:cNvPr id="133" name="Google Shape;133;p19"/>
          <p:cNvSpPr txBox="1"/>
          <p:nvPr/>
        </p:nvSpPr>
        <p:spPr>
          <a:xfrm>
            <a:off x="6800850" y="-85725"/>
            <a:ext cx="4686300" cy="82586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4900">
                <a:solidFill>
                  <a:srgbClr val="FFFFFF"/>
                </a:solidFill>
                <a:latin typeface="Arial"/>
                <a:ea typeface="Arial"/>
                <a:cs typeface="Arial"/>
                <a:sym typeface="Arial"/>
              </a:rPr>
              <a:t>CHAPTER 2:</a:t>
            </a:r>
            <a:endParaRPr/>
          </a:p>
        </p:txBody>
      </p:sp>
      <p:sp>
        <p:nvSpPr>
          <p:cNvPr id="134" name="Google Shape;134;p19"/>
          <p:cNvSpPr txBox="1"/>
          <p:nvPr/>
        </p:nvSpPr>
        <p:spPr>
          <a:xfrm>
            <a:off x="4975860" y="997123"/>
            <a:ext cx="8336280" cy="6299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700">
                <a:solidFill>
                  <a:srgbClr val="FFFFFF"/>
                </a:solidFill>
                <a:latin typeface="Arial"/>
                <a:ea typeface="Arial"/>
                <a:cs typeface="Arial"/>
                <a:sym typeface="Arial"/>
              </a:rPr>
              <a:t>DATA COLLECTION &amp; PREPARATION</a:t>
            </a:r>
            <a:endParaRPr/>
          </a:p>
        </p:txBody>
      </p:sp>
      <p:sp>
        <p:nvSpPr>
          <p:cNvPr id="135" name="Google Shape;135;p19"/>
          <p:cNvSpPr txBox="1"/>
          <p:nvPr/>
        </p:nvSpPr>
        <p:spPr>
          <a:xfrm>
            <a:off x="301817" y="2513944"/>
            <a:ext cx="17684366" cy="7414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000">
                <a:solidFill>
                  <a:srgbClr val="FFFFFF"/>
                </a:solidFill>
                <a:latin typeface="Arial"/>
                <a:ea typeface="Arial"/>
                <a:cs typeface="Arial"/>
                <a:sym typeface="Arial"/>
              </a:rPr>
              <a:t>Data was gathered from:</a:t>
            </a:r>
            <a:endParaRPr/>
          </a:p>
          <a:p>
            <a:pPr indent="0" lvl="0" marL="0" marR="0" rtl="0" algn="l">
              <a:lnSpc>
                <a:spcPct val="140000"/>
              </a:lnSpc>
              <a:spcBef>
                <a:spcPts val="0"/>
              </a:spcBef>
              <a:spcAft>
                <a:spcPts val="0"/>
              </a:spcAft>
              <a:buNone/>
            </a:pPr>
            <a:r>
              <a:t/>
            </a:r>
            <a:endParaRPr sz="3000">
              <a:solidFill>
                <a:srgbClr val="FFFFFF"/>
              </a:solidFill>
              <a:latin typeface="Arial"/>
              <a:ea typeface="Arial"/>
              <a:cs typeface="Arial"/>
              <a:sym typeface="Arial"/>
            </a:endParaRPr>
          </a:p>
          <a:p>
            <a:pPr indent="-302261" lvl="1" marL="604523" marR="0" rtl="0" algn="l">
              <a:lnSpc>
                <a:spcPct val="140000"/>
              </a:lnSpc>
              <a:spcBef>
                <a:spcPts val="0"/>
              </a:spcBef>
              <a:spcAft>
                <a:spcPts val="0"/>
              </a:spcAft>
              <a:buClr>
                <a:srgbClr val="FFFFFF"/>
              </a:buClr>
              <a:buSzPts val="2800"/>
              <a:buFont typeface="Arial"/>
              <a:buChar char="•"/>
            </a:pPr>
            <a:r>
              <a:rPr b="0" i="0" lang="en-US" sz="2800" u="none" cap="none" strike="noStrike">
                <a:solidFill>
                  <a:srgbClr val="FFFFFF"/>
                </a:solidFill>
                <a:latin typeface="Arial"/>
                <a:ea typeface="Arial"/>
                <a:cs typeface="Arial"/>
                <a:sym typeface="Arial"/>
              </a:rPr>
              <a:t>Kaggle:2008/2009 season to 2021/2022 season of the top European football leagues. </a:t>
            </a:r>
            <a:endParaRPr/>
          </a:p>
          <a:p>
            <a:pPr indent="-323851" lvl="1" marL="647702" marR="0" rtl="0" algn="l">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Arial"/>
                <a:ea typeface="Arial"/>
                <a:cs typeface="Arial"/>
                <a:sym typeface="Arial"/>
              </a:rPr>
              <a:t>From the English premier league, Spanish La Liga, German Bundesliga, </a:t>
            </a:r>
            <a:endParaRPr/>
          </a:p>
          <a:p>
            <a:pPr indent="0" lvl="0" marL="0" marR="0" rtl="0" algn="l">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l">
              <a:lnSpc>
                <a:spcPct val="140000"/>
              </a:lnSpc>
              <a:spcBef>
                <a:spcPts val="0"/>
              </a:spcBef>
              <a:spcAft>
                <a:spcPts val="0"/>
              </a:spcAft>
              <a:buNone/>
            </a:pPr>
            <a:r>
              <a:rPr lang="en-US" sz="3000">
                <a:solidFill>
                  <a:srgbClr val="FFFFFF"/>
                </a:solidFill>
                <a:latin typeface="Arial"/>
                <a:ea typeface="Arial"/>
                <a:cs typeface="Arial"/>
                <a:sym typeface="Arial"/>
              </a:rPr>
              <a:t>French Ligue 1, Italian Seria A and so on.</a:t>
            </a:r>
            <a:endParaRPr/>
          </a:p>
          <a:p>
            <a:pPr indent="0" lvl="0" marL="0" marR="0" rtl="0" algn="l">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l">
              <a:lnSpc>
                <a:spcPct val="140000"/>
              </a:lnSpc>
              <a:spcBef>
                <a:spcPts val="0"/>
              </a:spcBef>
              <a:spcAft>
                <a:spcPts val="0"/>
              </a:spcAft>
              <a:buNone/>
            </a:pPr>
            <a:r>
              <a:rPr lang="en-US" sz="3000">
                <a:solidFill>
                  <a:srgbClr val="FFFFFF"/>
                </a:solidFill>
                <a:latin typeface="Arial"/>
                <a:ea typeface="Arial"/>
                <a:cs typeface="Arial"/>
                <a:sym typeface="Arial"/>
              </a:rPr>
              <a:t>Transfermarkt.com: Player information and attributes including</a:t>
            </a:r>
            <a:endParaRPr/>
          </a:p>
          <a:p>
            <a:pPr indent="0" lvl="0" marL="0" marR="0" rtl="0" algn="l">
              <a:lnSpc>
                <a:spcPct val="140000"/>
              </a:lnSpc>
              <a:spcBef>
                <a:spcPts val="0"/>
              </a:spcBef>
              <a:spcAft>
                <a:spcPts val="0"/>
              </a:spcAft>
              <a:buNone/>
            </a:pPr>
            <a:r>
              <a:rPr lang="en-US" sz="3000">
                <a:solidFill>
                  <a:srgbClr val="FFFFFF"/>
                </a:solidFill>
                <a:latin typeface="Arial"/>
                <a:ea typeface="Arial"/>
                <a:cs typeface="Arial"/>
                <a:sym typeface="Arial"/>
              </a:rPr>
              <a:t>Name, Age, Position, Current  Club,  Citizenship, height,  foot, Market Value.</a:t>
            </a:r>
            <a:endParaRPr/>
          </a:p>
          <a:p>
            <a:pPr indent="0" lvl="0" marL="0" marR="0" rtl="0" algn="l">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l">
              <a:lnSpc>
                <a:spcPct val="140000"/>
              </a:lnSpc>
              <a:spcBef>
                <a:spcPts val="0"/>
              </a:spcBef>
              <a:spcAft>
                <a:spcPts val="0"/>
              </a:spcAft>
              <a:buNone/>
            </a:pPr>
            <a:r>
              <a:rPr lang="en-US" sz="3000">
                <a:solidFill>
                  <a:srgbClr val="FFFFFF"/>
                </a:solidFill>
                <a:latin typeface="Arial"/>
                <a:ea typeface="Arial"/>
                <a:cs typeface="Arial"/>
                <a:sym typeface="Arial"/>
              </a:rPr>
              <a:t>Sofifa.com: Performance metrics for players including potential, work rate, finishing, passing, crossing, aggression,  speed, accuracy, discipline and so on.</a:t>
            </a:r>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39" name="Shape 139"/>
        <p:cNvGrpSpPr/>
        <p:nvPr/>
      </p:nvGrpSpPr>
      <p:grpSpPr>
        <a:xfrm>
          <a:off x="0" y="0"/>
          <a:ext cx="0" cy="0"/>
          <a:chOff x="0" y="0"/>
          <a:chExt cx="0" cy="0"/>
        </a:xfrm>
      </p:grpSpPr>
      <p:sp>
        <p:nvSpPr>
          <p:cNvPr id="140" name="Google Shape;140;p20"/>
          <p:cNvSpPr/>
          <p:nvPr/>
        </p:nvSpPr>
        <p:spPr>
          <a:xfrm>
            <a:off x="2451973" y="3075923"/>
            <a:ext cx="12931328" cy="7211077"/>
          </a:xfrm>
          <a:custGeom>
            <a:rect b="b" l="l" r="r" t="t"/>
            <a:pathLst>
              <a:path extrusionOk="0" h="7211077" w="12931328">
                <a:moveTo>
                  <a:pt x="0" y="0"/>
                </a:moveTo>
                <a:lnTo>
                  <a:pt x="12931328" y="0"/>
                </a:lnTo>
                <a:lnTo>
                  <a:pt x="12931328" y="7211077"/>
                </a:lnTo>
                <a:lnTo>
                  <a:pt x="0" y="7211077"/>
                </a:lnTo>
                <a:lnTo>
                  <a:pt x="0" y="0"/>
                </a:lnTo>
                <a:close/>
              </a:path>
            </a:pathLst>
          </a:custGeom>
          <a:blipFill rotWithShape="1">
            <a:blip r:embed="rId3">
              <a:alphaModFix/>
            </a:blip>
            <a:stretch>
              <a:fillRect b="-8845" l="0" r="0" t="-5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20"/>
          <p:cNvSpPr txBox="1"/>
          <p:nvPr/>
        </p:nvSpPr>
        <p:spPr>
          <a:xfrm>
            <a:off x="3404568" y="214982"/>
            <a:ext cx="11026140" cy="97662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800">
                <a:solidFill>
                  <a:srgbClr val="FFFFFF"/>
                </a:solidFill>
                <a:latin typeface="Arial"/>
                <a:ea typeface="Arial"/>
                <a:cs typeface="Arial"/>
                <a:sym typeface="Arial"/>
              </a:rPr>
              <a:t>RELATIONSHIP BETWEEN ATTRIBUTES THAT AFFECT PLAYERS </a:t>
            </a:r>
            <a:endParaRPr/>
          </a:p>
          <a:p>
            <a:pPr indent="0" lvl="0" marL="0" marR="0" rtl="0" algn="ctr">
              <a:lnSpc>
                <a:spcPct val="140000"/>
              </a:lnSpc>
              <a:spcBef>
                <a:spcPts val="0"/>
              </a:spcBef>
              <a:spcAft>
                <a:spcPts val="0"/>
              </a:spcAft>
              <a:buNone/>
            </a:pPr>
            <a:r>
              <a:rPr lang="en-US" sz="2800">
                <a:solidFill>
                  <a:srgbClr val="FFFFFF"/>
                </a:solidFill>
                <a:latin typeface="Arial"/>
                <a:ea typeface="Arial"/>
                <a:cs typeface="Arial"/>
                <a:sym typeface="Arial"/>
              </a:rPr>
              <a:t>MARKET VALUE  </a:t>
            </a:r>
            <a:endParaRPr/>
          </a:p>
        </p:txBody>
      </p:sp>
      <p:sp>
        <p:nvSpPr>
          <p:cNvPr id="142" name="Google Shape;142;p20"/>
          <p:cNvSpPr txBox="1"/>
          <p:nvPr/>
        </p:nvSpPr>
        <p:spPr>
          <a:xfrm>
            <a:off x="339090" y="1430003"/>
            <a:ext cx="17145000" cy="1362710"/>
          </a:xfrm>
          <a:prstGeom prst="rect">
            <a:avLst/>
          </a:prstGeom>
          <a:noFill/>
          <a:ln>
            <a:noFill/>
          </a:ln>
        </p:spPr>
        <p:txBody>
          <a:bodyPr anchorCtr="0" anchor="t" bIns="0" lIns="0" spcFirstLastPara="1" rIns="0" wrap="square" tIns="0">
            <a:spAutoFit/>
          </a:bodyPr>
          <a:lstStyle/>
          <a:p>
            <a:pPr indent="0" lvl="0" marL="0" marR="0" rtl="0" algn="ctr">
              <a:lnSpc>
                <a:spcPct val="151666"/>
              </a:lnSpc>
              <a:spcBef>
                <a:spcPts val="0"/>
              </a:spcBef>
              <a:spcAft>
                <a:spcPts val="0"/>
              </a:spcAft>
              <a:buNone/>
            </a:pPr>
            <a:r>
              <a:rPr lang="en-US" sz="2400">
                <a:solidFill>
                  <a:srgbClr val="FFFFFF"/>
                </a:solidFill>
                <a:latin typeface="Arial"/>
                <a:ea typeface="Arial"/>
                <a:cs typeface="Arial"/>
                <a:sym typeface="Arial"/>
              </a:rPr>
              <a:t>Age vs Market Value.</a:t>
            </a:r>
            <a:endParaRPr/>
          </a:p>
          <a:p>
            <a:pPr indent="0" lvl="0" marL="0" marR="0" rtl="0" algn="ctr">
              <a:lnSpc>
                <a:spcPct val="151666"/>
              </a:lnSpc>
              <a:spcBef>
                <a:spcPts val="0"/>
              </a:spcBef>
              <a:spcAft>
                <a:spcPts val="0"/>
              </a:spcAft>
              <a:buNone/>
            </a:pPr>
            <a:r>
              <a:rPr lang="en-US" sz="2400">
                <a:solidFill>
                  <a:srgbClr val="FFFFFF"/>
                </a:solidFill>
                <a:latin typeface="Arial"/>
                <a:ea typeface="Arial"/>
                <a:cs typeface="Arial"/>
                <a:sym typeface="Arial"/>
              </a:rPr>
              <a:t>The player’s age is a key indicator of the market value.</a:t>
            </a:r>
            <a:endParaRPr/>
          </a:p>
          <a:p>
            <a:pPr indent="0" lvl="0" marL="0" marR="0" rtl="0" algn="ctr">
              <a:lnSpc>
                <a:spcPct val="151666"/>
              </a:lnSpc>
              <a:spcBef>
                <a:spcPts val="0"/>
              </a:spcBef>
              <a:spcAft>
                <a:spcPts val="0"/>
              </a:spcAft>
              <a:buNone/>
            </a:pPr>
            <a:r>
              <a:rPr lang="en-US" sz="2400">
                <a:solidFill>
                  <a:srgbClr val="FFFFFF"/>
                </a:solidFill>
                <a:latin typeface="Arial"/>
                <a:ea typeface="Arial"/>
                <a:cs typeface="Arial"/>
                <a:sym typeface="Arial"/>
              </a:rPr>
              <a:t>Players’ value increases in their mid 20's and decreases as they age. Age reflects both experience and ability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46" name="Shape 146"/>
        <p:cNvGrpSpPr/>
        <p:nvPr/>
      </p:nvGrpSpPr>
      <p:grpSpPr>
        <a:xfrm>
          <a:off x="0" y="0"/>
          <a:ext cx="0" cy="0"/>
          <a:chOff x="0" y="0"/>
          <a:chExt cx="0" cy="0"/>
        </a:xfrm>
      </p:grpSpPr>
      <p:sp>
        <p:nvSpPr>
          <p:cNvPr id="147" name="Google Shape;147;p21"/>
          <p:cNvSpPr/>
          <p:nvPr/>
        </p:nvSpPr>
        <p:spPr>
          <a:xfrm>
            <a:off x="243542" y="1028700"/>
            <a:ext cx="8431566" cy="4114800"/>
          </a:xfrm>
          <a:custGeom>
            <a:rect b="b" l="l" r="r" t="t"/>
            <a:pathLst>
              <a:path extrusionOk="0" h="4114800" w="8431566">
                <a:moveTo>
                  <a:pt x="0" y="0"/>
                </a:moveTo>
                <a:lnTo>
                  <a:pt x="8431566" y="0"/>
                </a:lnTo>
                <a:lnTo>
                  <a:pt x="8431566" y="4114800"/>
                </a:lnTo>
                <a:lnTo>
                  <a:pt x="0" y="4114800"/>
                </a:lnTo>
                <a:lnTo>
                  <a:pt x="0" y="0"/>
                </a:lnTo>
                <a:close/>
              </a:path>
            </a:pathLst>
          </a:custGeom>
          <a:blipFill rotWithShape="1">
            <a:blip r:embed="rId3">
              <a:alphaModFix/>
            </a:blip>
            <a:stretch>
              <a:fillRect b="-12835" l="-12731" r="-13423" t="-489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21"/>
          <p:cNvSpPr/>
          <p:nvPr/>
        </p:nvSpPr>
        <p:spPr>
          <a:xfrm>
            <a:off x="243542" y="5564096"/>
            <a:ext cx="8431566" cy="4144491"/>
          </a:xfrm>
          <a:custGeom>
            <a:rect b="b" l="l" r="r" t="t"/>
            <a:pathLst>
              <a:path extrusionOk="0" h="4144491" w="8431566">
                <a:moveTo>
                  <a:pt x="0" y="0"/>
                </a:moveTo>
                <a:lnTo>
                  <a:pt x="8431566" y="0"/>
                </a:lnTo>
                <a:lnTo>
                  <a:pt x="8431566" y="4144491"/>
                </a:lnTo>
                <a:lnTo>
                  <a:pt x="0" y="4144491"/>
                </a:lnTo>
                <a:lnTo>
                  <a:pt x="0" y="0"/>
                </a:lnTo>
                <a:close/>
              </a:path>
            </a:pathLst>
          </a:custGeom>
          <a:blipFill rotWithShape="1">
            <a:blip r:embed="rId4">
              <a:alphaModFix/>
            </a:blip>
            <a:stretch>
              <a:fillRect b="-22035" l="-23736" r="-1798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21"/>
          <p:cNvSpPr/>
          <p:nvPr/>
        </p:nvSpPr>
        <p:spPr>
          <a:xfrm>
            <a:off x="8930900" y="2918948"/>
            <a:ext cx="9018639" cy="6789639"/>
          </a:xfrm>
          <a:custGeom>
            <a:rect b="b" l="l" r="r" t="t"/>
            <a:pathLst>
              <a:path extrusionOk="0" h="6789639" w="9018639">
                <a:moveTo>
                  <a:pt x="0" y="0"/>
                </a:moveTo>
                <a:lnTo>
                  <a:pt x="9018639" y="0"/>
                </a:lnTo>
                <a:lnTo>
                  <a:pt x="9018639" y="6789639"/>
                </a:lnTo>
                <a:lnTo>
                  <a:pt x="0" y="6789639"/>
                </a:lnTo>
                <a:lnTo>
                  <a:pt x="0" y="0"/>
                </a:lnTo>
                <a:close/>
              </a:path>
            </a:pathLst>
          </a:custGeom>
          <a:blipFill rotWithShape="1">
            <a:blip r:embed="rId5">
              <a:alphaModFix/>
            </a:blip>
            <a:stretch>
              <a:fillRect b="0" l="-9139" r="-1217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21"/>
          <p:cNvSpPr txBox="1"/>
          <p:nvPr/>
        </p:nvSpPr>
        <p:spPr>
          <a:xfrm>
            <a:off x="1712315" y="194869"/>
            <a:ext cx="5494020" cy="586827"/>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lang="en-US" sz="2800">
                <a:solidFill>
                  <a:srgbClr val="FFFFFF"/>
                </a:solidFill>
                <a:latin typeface="Arial"/>
                <a:ea typeface="Arial"/>
                <a:cs typeface="Arial"/>
                <a:sym typeface="Arial"/>
              </a:rPr>
              <a:t>Position vs Market Value</a:t>
            </a:r>
            <a:endParaRPr/>
          </a:p>
        </p:txBody>
      </p:sp>
      <p:sp>
        <p:nvSpPr>
          <p:cNvPr id="151" name="Google Shape;151;p21"/>
          <p:cNvSpPr txBox="1"/>
          <p:nvPr/>
        </p:nvSpPr>
        <p:spPr>
          <a:xfrm>
            <a:off x="11393621" y="933450"/>
            <a:ext cx="4770120"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lang="en-US" sz="5199">
                <a:solidFill>
                  <a:srgbClr val="FFFFFF"/>
                </a:solidFill>
                <a:latin typeface="Arial"/>
                <a:ea typeface="Arial"/>
                <a:cs typeface="Arial"/>
                <a:sym typeface="Arial"/>
              </a:rPr>
              <a:t>Preferred Foot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55" name="Shape 155"/>
        <p:cNvGrpSpPr/>
        <p:nvPr/>
      </p:nvGrpSpPr>
      <p:grpSpPr>
        <a:xfrm>
          <a:off x="0" y="0"/>
          <a:ext cx="0" cy="0"/>
          <a:chOff x="0" y="0"/>
          <a:chExt cx="0" cy="0"/>
        </a:xfrm>
      </p:grpSpPr>
      <p:sp>
        <p:nvSpPr>
          <p:cNvPr id="156" name="Google Shape;156;p22"/>
          <p:cNvSpPr/>
          <p:nvPr/>
        </p:nvSpPr>
        <p:spPr>
          <a:xfrm>
            <a:off x="1863978" y="5143500"/>
            <a:ext cx="14868389" cy="4195021"/>
          </a:xfrm>
          <a:custGeom>
            <a:rect b="b" l="l" r="r" t="t"/>
            <a:pathLst>
              <a:path extrusionOk="0" h="4195021" w="14868389">
                <a:moveTo>
                  <a:pt x="0" y="0"/>
                </a:moveTo>
                <a:lnTo>
                  <a:pt x="14868389" y="0"/>
                </a:lnTo>
                <a:lnTo>
                  <a:pt x="14868389" y="4195021"/>
                </a:lnTo>
                <a:lnTo>
                  <a:pt x="0" y="4195021"/>
                </a:lnTo>
                <a:lnTo>
                  <a:pt x="0" y="0"/>
                </a:lnTo>
                <a:close/>
              </a:path>
            </a:pathLst>
          </a:custGeom>
          <a:blipFill rotWithShape="1">
            <a:blip r:embed="rId3">
              <a:alphaModFix/>
            </a:blip>
            <a:stretch>
              <a:fillRect b="-2591" l="-1965" r="-196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22"/>
          <p:cNvSpPr txBox="1"/>
          <p:nvPr/>
        </p:nvSpPr>
        <p:spPr>
          <a:xfrm>
            <a:off x="5295900" y="173204"/>
            <a:ext cx="7696200" cy="634917"/>
          </a:xfrm>
          <a:prstGeom prst="rect">
            <a:avLst/>
          </a:prstGeom>
          <a:noFill/>
          <a:ln>
            <a:noFill/>
          </a:ln>
        </p:spPr>
        <p:txBody>
          <a:bodyPr anchorCtr="0" anchor="t" bIns="0" lIns="0" spcFirstLastPara="1" rIns="0" wrap="square" tIns="0">
            <a:spAutoFit/>
          </a:bodyPr>
          <a:lstStyle/>
          <a:p>
            <a:pPr indent="0" lvl="0" marL="0" marR="0" rtl="0" algn="ctr">
              <a:lnSpc>
                <a:spcPct val="170625"/>
              </a:lnSpc>
              <a:spcBef>
                <a:spcPts val="0"/>
              </a:spcBef>
              <a:spcAft>
                <a:spcPts val="0"/>
              </a:spcAft>
              <a:buNone/>
            </a:pPr>
            <a:r>
              <a:rPr lang="en-US" sz="3200">
                <a:solidFill>
                  <a:srgbClr val="FFFFFF"/>
                </a:solidFill>
                <a:latin typeface="Arial"/>
                <a:ea typeface="Arial"/>
                <a:cs typeface="Arial"/>
                <a:sym typeface="Arial"/>
              </a:rPr>
              <a:t>Feature Selection &amp; Engineering</a:t>
            </a:r>
            <a:endParaRPr/>
          </a:p>
        </p:txBody>
      </p:sp>
      <p:sp>
        <p:nvSpPr>
          <p:cNvPr id="158" name="Google Shape;158;p22"/>
          <p:cNvSpPr txBox="1"/>
          <p:nvPr/>
        </p:nvSpPr>
        <p:spPr>
          <a:xfrm>
            <a:off x="880110" y="971550"/>
            <a:ext cx="16527780" cy="4112793"/>
          </a:xfrm>
          <a:prstGeom prst="rect">
            <a:avLst/>
          </a:prstGeom>
          <a:noFill/>
          <a:ln>
            <a:noFill/>
          </a:ln>
        </p:spPr>
        <p:txBody>
          <a:bodyPr anchorCtr="0" anchor="t" bIns="0" lIns="0" spcFirstLastPara="1" rIns="0" wrap="square" tIns="0">
            <a:spAutoFit/>
          </a:bodyPr>
          <a:lstStyle/>
          <a:p>
            <a:pPr indent="0" lvl="0" marL="0" marR="0" rtl="0" algn="ctr">
              <a:lnSpc>
                <a:spcPct val="169166"/>
              </a:lnSpc>
              <a:spcBef>
                <a:spcPts val="0"/>
              </a:spcBef>
              <a:spcAft>
                <a:spcPts val="0"/>
              </a:spcAft>
              <a:buNone/>
            </a:pPr>
            <a:r>
              <a:rPr lang="en-US" sz="2400">
                <a:solidFill>
                  <a:srgbClr val="FFFFFF"/>
                </a:solidFill>
                <a:latin typeface="Arial"/>
                <a:ea typeface="Arial"/>
                <a:cs typeface="Arial"/>
                <a:sym typeface="Arial"/>
              </a:rPr>
              <a:t>USING THE TRAIN_TEST_SPLIT METHOD AND 80 20 RULE TO PREPARE DATA</a:t>
            </a:r>
            <a:endParaRPr/>
          </a:p>
          <a:p>
            <a:pPr indent="0" lvl="0" marL="0" marR="0" rtl="0" algn="ctr">
              <a:lnSpc>
                <a:spcPct val="169166"/>
              </a:lnSpc>
              <a:spcBef>
                <a:spcPts val="0"/>
              </a:spcBef>
              <a:spcAft>
                <a:spcPts val="0"/>
              </a:spcAft>
              <a:buNone/>
            </a:pPr>
            <a:r>
              <a:rPr lang="en-US" sz="2400">
                <a:solidFill>
                  <a:srgbClr val="FFFFFF"/>
                </a:solidFill>
                <a:latin typeface="Arial"/>
                <a:ea typeface="Arial"/>
                <a:cs typeface="Arial"/>
                <a:sym typeface="Arial"/>
              </a:rPr>
              <a:t>FOR TRAINING.</a:t>
            </a:r>
            <a:endParaRPr/>
          </a:p>
          <a:p>
            <a:pPr indent="0" lvl="0" marL="0" marR="0" rtl="0" algn="ctr">
              <a:lnSpc>
                <a:spcPct val="169166"/>
              </a:lnSpc>
              <a:spcBef>
                <a:spcPts val="0"/>
              </a:spcBef>
              <a:spcAft>
                <a:spcPts val="0"/>
              </a:spcAft>
              <a:buNone/>
            </a:pPr>
            <a:r>
              <a:t/>
            </a:r>
            <a:endParaRPr sz="2400">
              <a:solidFill>
                <a:srgbClr val="FFFFFF"/>
              </a:solidFill>
              <a:latin typeface="Arial"/>
              <a:ea typeface="Arial"/>
              <a:cs typeface="Arial"/>
              <a:sym typeface="Arial"/>
            </a:endParaRPr>
          </a:p>
          <a:p>
            <a:pPr indent="0" lvl="0" marL="0" marR="0" rtl="0" algn="ctr">
              <a:lnSpc>
                <a:spcPct val="169166"/>
              </a:lnSpc>
              <a:spcBef>
                <a:spcPts val="0"/>
              </a:spcBef>
              <a:spcAft>
                <a:spcPts val="0"/>
              </a:spcAft>
              <a:buNone/>
            </a:pPr>
            <a:r>
              <a:rPr lang="en-US" sz="2400">
                <a:solidFill>
                  <a:srgbClr val="FFFFFF"/>
                </a:solidFill>
                <a:latin typeface="Arial"/>
                <a:ea typeface="Arial"/>
                <a:cs typeface="Arial"/>
                <a:sym typeface="Arial"/>
              </a:rPr>
              <a:t>The dataset was split into a training set (with 80% of the data) and a</a:t>
            </a:r>
            <a:endParaRPr/>
          </a:p>
          <a:p>
            <a:pPr indent="0" lvl="0" marL="0" marR="0" rtl="0" algn="ctr">
              <a:lnSpc>
                <a:spcPct val="169166"/>
              </a:lnSpc>
              <a:spcBef>
                <a:spcPts val="0"/>
              </a:spcBef>
              <a:spcAft>
                <a:spcPts val="0"/>
              </a:spcAft>
              <a:buNone/>
            </a:pPr>
            <a:r>
              <a:rPr lang="en-US" sz="2400">
                <a:solidFill>
                  <a:srgbClr val="FFFFFF"/>
                </a:solidFill>
                <a:latin typeface="Arial"/>
                <a:ea typeface="Arial"/>
                <a:cs typeface="Arial"/>
                <a:sym typeface="Arial"/>
              </a:rPr>
              <a:t>testing set (with 20% of the data), and each set includes the feature matrix (X)</a:t>
            </a:r>
            <a:endParaRPr/>
          </a:p>
          <a:p>
            <a:pPr indent="0" lvl="0" marL="0" marR="0" rtl="0" algn="ctr">
              <a:lnSpc>
                <a:spcPct val="169166"/>
              </a:lnSpc>
              <a:spcBef>
                <a:spcPts val="0"/>
              </a:spcBef>
              <a:spcAft>
                <a:spcPts val="0"/>
              </a:spcAft>
              <a:buNone/>
            </a:pPr>
            <a:r>
              <a:rPr lang="en-US" sz="2400">
                <a:solidFill>
                  <a:srgbClr val="FFFFFF"/>
                </a:solidFill>
                <a:latin typeface="Arial"/>
                <a:ea typeface="Arial"/>
                <a:cs typeface="Arial"/>
                <a:sym typeface="Arial"/>
              </a:rPr>
              <a:t>and the target variable (y). </a:t>
            </a:r>
            <a:endParaRPr/>
          </a:p>
          <a:p>
            <a:pPr indent="0" lvl="0" marL="0" marR="0" rtl="0" algn="ctr">
              <a:lnSpc>
                <a:spcPct val="169166"/>
              </a:lnSpc>
              <a:spcBef>
                <a:spcPts val="0"/>
              </a:spcBef>
              <a:spcAft>
                <a:spcPts val="0"/>
              </a:spcAft>
              <a:buNone/>
            </a:pPr>
            <a:r>
              <a:t/>
            </a:r>
            <a:endParaRPr sz="2400">
              <a:solidFill>
                <a:srgbClr val="FFFFFF"/>
              </a:solidFill>
              <a:latin typeface="Arial"/>
              <a:ea typeface="Arial"/>
              <a:cs typeface="Arial"/>
              <a:sym typeface="Arial"/>
            </a:endParaRPr>
          </a:p>
          <a:p>
            <a:pPr indent="0" lvl="0" marL="0" marR="0" rtl="0" algn="ctr">
              <a:lnSpc>
                <a:spcPct val="130000"/>
              </a:lnSpc>
              <a:spcBef>
                <a:spcPts val="0"/>
              </a:spcBef>
              <a:spcAft>
                <a:spcPts val="0"/>
              </a:spcAft>
              <a:buNone/>
            </a:pPr>
            <a:r>
              <a:rPr lang="en-US" sz="2400">
                <a:solidFill>
                  <a:srgbClr val="FFFFFF"/>
                </a:solidFill>
                <a:latin typeface="Arial"/>
                <a:ea typeface="Arial"/>
                <a:cs typeface="Arial"/>
                <a:sym typeface="Arial"/>
              </a:rPr>
              <a:t>This is a common practice in machine learning to evaluate how well the model performs on unseen data</a:t>
            </a:r>
            <a:r>
              <a:rPr lang="en-US" sz="2800">
                <a:solidFill>
                  <a:srgbClr val="FFFFFF"/>
                </a:solidFill>
                <a:latin typeface="Arial"/>
                <a:ea typeface="Arial"/>
                <a:cs typeface="Arial"/>
                <a:sym typeface="Arial"/>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62" name="Shape 162"/>
        <p:cNvGrpSpPr/>
        <p:nvPr/>
      </p:nvGrpSpPr>
      <p:grpSpPr>
        <a:xfrm>
          <a:off x="0" y="0"/>
          <a:ext cx="0" cy="0"/>
          <a:chOff x="0" y="0"/>
          <a:chExt cx="0" cy="0"/>
        </a:xfrm>
      </p:grpSpPr>
      <p:sp>
        <p:nvSpPr>
          <p:cNvPr id="163" name="Google Shape;163;p23"/>
          <p:cNvSpPr txBox="1"/>
          <p:nvPr/>
        </p:nvSpPr>
        <p:spPr>
          <a:xfrm>
            <a:off x="3086100" y="349264"/>
            <a:ext cx="12115800" cy="66292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900">
                <a:solidFill>
                  <a:srgbClr val="FFFFFF"/>
                </a:solidFill>
                <a:latin typeface="Arial"/>
                <a:ea typeface="Arial"/>
                <a:cs typeface="Arial"/>
                <a:sym typeface="Arial"/>
              </a:rPr>
              <a:t>CHOOSING AND BUILDING A PREDICTIVE MODEL.</a:t>
            </a:r>
            <a:endParaRPr/>
          </a:p>
        </p:txBody>
      </p:sp>
      <p:sp>
        <p:nvSpPr>
          <p:cNvPr id="164" name="Google Shape;164;p23"/>
          <p:cNvSpPr txBox="1"/>
          <p:nvPr/>
        </p:nvSpPr>
        <p:spPr>
          <a:xfrm>
            <a:off x="0" y="1237243"/>
            <a:ext cx="18288000" cy="74485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The purpose of this test is to find a model that predict the market value of football players on unseen data.</a:t>
            </a:r>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REGRESSION MODELS TO BE TESTED.</a:t>
            </a:r>
            <a:endParaRPr/>
          </a:p>
          <a:p>
            <a:pPr indent="-323851" lvl="1" marL="647702" marR="0" rtl="0" algn="ctr">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Arial"/>
                <a:ea typeface="Arial"/>
                <a:cs typeface="Arial"/>
                <a:sym typeface="Arial"/>
              </a:rPr>
              <a:t>Decision Trees</a:t>
            </a:r>
            <a:endParaRPr/>
          </a:p>
          <a:p>
            <a:pPr indent="-323851" lvl="1" marL="647702" marR="0" rtl="0" algn="ctr">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Arial"/>
                <a:ea typeface="Arial"/>
                <a:cs typeface="Arial"/>
                <a:sym typeface="Arial"/>
              </a:rPr>
              <a:t>Lasso Regression</a:t>
            </a:r>
            <a:endParaRPr/>
          </a:p>
          <a:p>
            <a:pPr indent="-323851" lvl="1" marL="647702" marR="0" rtl="0" algn="ctr">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Arial"/>
                <a:ea typeface="Arial"/>
                <a:cs typeface="Arial"/>
                <a:sym typeface="Arial"/>
              </a:rPr>
              <a:t>Ridge Regression</a:t>
            </a:r>
            <a:endParaRPr/>
          </a:p>
          <a:p>
            <a:pPr indent="-323851" lvl="1" marL="647702" marR="0" rtl="0" algn="ctr">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Arial"/>
                <a:ea typeface="Arial"/>
                <a:cs typeface="Arial"/>
                <a:sym typeface="Arial"/>
              </a:rPr>
              <a:t>Support Vector Machines</a:t>
            </a:r>
            <a:endParaRPr/>
          </a:p>
          <a:p>
            <a:pPr indent="-323851" lvl="1" marL="647702" marR="0" rtl="0" algn="ctr">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Arial"/>
                <a:ea typeface="Arial"/>
                <a:cs typeface="Arial"/>
                <a:sym typeface="Arial"/>
              </a:rPr>
              <a:t>Stacked Regression</a:t>
            </a:r>
            <a:endParaRPr/>
          </a:p>
          <a:p>
            <a:pPr indent="-323851" lvl="1" marL="647702" marR="0" rtl="0" algn="ctr">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Arial"/>
                <a:ea typeface="Arial"/>
                <a:cs typeface="Arial"/>
                <a:sym typeface="Arial"/>
              </a:rPr>
              <a:t>Gradient Boosting</a:t>
            </a:r>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X = Features (Age, Position, Preferred foot, Finishing, Potential, work rate etc</a:t>
            </a:r>
            <a:endParaRPr/>
          </a:p>
          <a:p>
            <a:pPr indent="0" lvl="0" marL="0" marR="0" rtl="0" algn="ctr">
              <a:lnSpc>
                <a:spcPct val="140000"/>
              </a:lnSpc>
              <a:spcBef>
                <a:spcPts val="0"/>
              </a:spcBef>
              <a:spcAft>
                <a:spcPts val="0"/>
              </a:spcAft>
              <a:buNone/>
            </a:pPr>
            <a:r>
              <a:rPr lang="en-US" sz="3000">
                <a:solidFill>
                  <a:srgbClr val="FFFFFF"/>
                </a:solidFill>
                <a:latin typeface="Arial"/>
                <a:ea typeface="Arial"/>
                <a:cs typeface="Arial"/>
                <a:sym typeface="Arial"/>
              </a:rPr>
              <a:t>Y = Target Variable (Market Value in Euro)</a:t>
            </a:r>
            <a:endParaRPr/>
          </a:p>
          <a:p>
            <a:pPr indent="0" lvl="0" marL="0" marR="0" rtl="0" algn="ctr">
              <a:lnSpc>
                <a:spcPct val="140000"/>
              </a:lnSpc>
              <a:spcBef>
                <a:spcPts val="0"/>
              </a:spcBef>
              <a:spcAft>
                <a:spcPts val="0"/>
              </a:spcAft>
              <a:buNone/>
            </a:pPr>
            <a:r>
              <a:t/>
            </a:r>
            <a:endParaRPr sz="3000">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68" name="Shape 168"/>
        <p:cNvGrpSpPr/>
        <p:nvPr/>
      </p:nvGrpSpPr>
      <p:grpSpPr>
        <a:xfrm>
          <a:off x="0" y="0"/>
          <a:ext cx="0" cy="0"/>
          <a:chOff x="0" y="0"/>
          <a:chExt cx="0" cy="0"/>
        </a:xfrm>
      </p:grpSpPr>
      <p:sp>
        <p:nvSpPr>
          <p:cNvPr id="169" name="Google Shape;169;p24"/>
          <p:cNvSpPr/>
          <p:nvPr/>
        </p:nvSpPr>
        <p:spPr>
          <a:xfrm>
            <a:off x="176060" y="1915026"/>
            <a:ext cx="4700400" cy="6456949"/>
          </a:xfrm>
          <a:custGeom>
            <a:rect b="b" l="l" r="r" t="t"/>
            <a:pathLst>
              <a:path extrusionOk="0" h="6456949" w="4700400">
                <a:moveTo>
                  <a:pt x="0" y="0"/>
                </a:moveTo>
                <a:lnTo>
                  <a:pt x="4700400" y="0"/>
                </a:lnTo>
                <a:lnTo>
                  <a:pt x="4700400" y="6456948"/>
                </a:lnTo>
                <a:lnTo>
                  <a:pt x="0" y="6456948"/>
                </a:lnTo>
                <a:lnTo>
                  <a:pt x="0" y="0"/>
                </a:lnTo>
                <a:close/>
              </a:path>
            </a:pathLst>
          </a:custGeom>
          <a:blipFill rotWithShape="1">
            <a:blip r:embed="rId3">
              <a:alphaModFix/>
            </a:blip>
            <a:stretch>
              <a:fillRect b="0" l="-39897" r="-3479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24"/>
          <p:cNvSpPr/>
          <p:nvPr/>
        </p:nvSpPr>
        <p:spPr>
          <a:xfrm>
            <a:off x="5915283" y="1915026"/>
            <a:ext cx="4805847" cy="6456949"/>
          </a:xfrm>
          <a:custGeom>
            <a:rect b="b" l="l" r="r" t="t"/>
            <a:pathLst>
              <a:path extrusionOk="0" h="6456949" w="4805847">
                <a:moveTo>
                  <a:pt x="0" y="0"/>
                </a:moveTo>
                <a:lnTo>
                  <a:pt x="4805847" y="0"/>
                </a:lnTo>
                <a:lnTo>
                  <a:pt x="4805847" y="6456948"/>
                </a:lnTo>
                <a:lnTo>
                  <a:pt x="0" y="6456948"/>
                </a:lnTo>
                <a:lnTo>
                  <a:pt x="0" y="0"/>
                </a:lnTo>
                <a:close/>
              </a:path>
            </a:pathLst>
          </a:custGeom>
          <a:blipFill rotWithShape="1">
            <a:blip r:embed="rId4">
              <a:alphaModFix/>
            </a:blip>
            <a:stretch>
              <a:fillRect b="0" l="-11712" r="-1171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24"/>
          <p:cNvSpPr/>
          <p:nvPr/>
        </p:nvSpPr>
        <p:spPr>
          <a:xfrm>
            <a:off x="11759954" y="1915026"/>
            <a:ext cx="5499346" cy="6456949"/>
          </a:xfrm>
          <a:custGeom>
            <a:rect b="b" l="l" r="r" t="t"/>
            <a:pathLst>
              <a:path extrusionOk="0" h="6456949" w="5499346">
                <a:moveTo>
                  <a:pt x="0" y="0"/>
                </a:moveTo>
                <a:lnTo>
                  <a:pt x="5499346" y="0"/>
                </a:lnTo>
                <a:lnTo>
                  <a:pt x="5499346" y="6456948"/>
                </a:lnTo>
                <a:lnTo>
                  <a:pt x="0" y="6456948"/>
                </a:lnTo>
                <a:lnTo>
                  <a:pt x="0" y="0"/>
                </a:lnTo>
                <a:close/>
              </a:path>
            </a:pathLst>
          </a:custGeom>
          <a:blipFill rotWithShape="1">
            <a:blip r:embed="rId5">
              <a:alphaModFix/>
            </a:blip>
            <a:stretch>
              <a:fillRect b="0" l="-13254" r="-18102" t="-161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24"/>
          <p:cNvSpPr txBox="1"/>
          <p:nvPr/>
        </p:nvSpPr>
        <p:spPr>
          <a:xfrm>
            <a:off x="5661648" y="358800"/>
            <a:ext cx="8395800" cy="569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700">
                <a:solidFill>
                  <a:srgbClr val="FFFFFF"/>
                </a:solidFill>
                <a:latin typeface="Arial"/>
                <a:ea typeface="Arial"/>
                <a:cs typeface="Arial"/>
                <a:sym typeface="Arial"/>
              </a:rPr>
              <a:t>MODEL PREDICTION RESULTS</a:t>
            </a:r>
            <a:endParaRPr/>
          </a:p>
        </p:txBody>
      </p:sp>
      <p:sp>
        <p:nvSpPr>
          <p:cNvPr id="173" name="Google Shape;173;p24"/>
          <p:cNvSpPr txBox="1"/>
          <p:nvPr/>
        </p:nvSpPr>
        <p:spPr>
          <a:xfrm>
            <a:off x="0" y="1158578"/>
            <a:ext cx="4876460" cy="488711"/>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884">
                <a:solidFill>
                  <a:srgbClr val="FFFFFF"/>
                </a:solidFill>
                <a:latin typeface="Arial"/>
                <a:ea typeface="Arial"/>
                <a:cs typeface="Arial"/>
                <a:sym typeface="Arial"/>
              </a:rPr>
              <a:t>Decision Tree Regression</a:t>
            </a:r>
            <a:endParaRPr/>
          </a:p>
        </p:txBody>
      </p:sp>
      <p:sp>
        <p:nvSpPr>
          <p:cNvPr id="174" name="Google Shape;174;p24"/>
          <p:cNvSpPr txBox="1"/>
          <p:nvPr/>
        </p:nvSpPr>
        <p:spPr>
          <a:xfrm>
            <a:off x="6985142" y="1194368"/>
            <a:ext cx="2987040" cy="48132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800">
                <a:solidFill>
                  <a:srgbClr val="FFFFFF"/>
                </a:solidFill>
                <a:latin typeface="Arial"/>
                <a:ea typeface="Arial"/>
                <a:cs typeface="Arial"/>
                <a:sym typeface="Arial"/>
              </a:rPr>
              <a:t>Lasso Regression</a:t>
            </a:r>
            <a:endParaRPr/>
          </a:p>
        </p:txBody>
      </p:sp>
      <p:sp>
        <p:nvSpPr>
          <p:cNvPr id="175" name="Google Shape;175;p24"/>
          <p:cNvSpPr txBox="1"/>
          <p:nvPr/>
        </p:nvSpPr>
        <p:spPr>
          <a:xfrm>
            <a:off x="11911207" y="1194368"/>
            <a:ext cx="5196840" cy="48132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800">
                <a:solidFill>
                  <a:srgbClr val="FFFFFF"/>
                </a:solidFill>
                <a:latin typeface="Arial"/>
                <a:ea typeface="Arial"/>
                <a:cs typeface="Arial"/>
                <a:sym typeface="Arial"/>
              </a:rPr>
              <a:t>Gradient Boosting Regression</a:t>
            </a:r>
            <a:endParaRPr/>
          </a:p>
        </p:txBody>
      </p:sp>
      <p:sp>
        <p:nvSpPr>
          <p:cNvPr id="176" name="Google Shape;176;p24"/>
          <p:cNvSpPr txBox="1"/>
          <p:nvPr/>
        </p:nvSpPr>
        <p:spPr>
          <a:xfrm>
            <a:off x="176060" y="8600574"/>
            <a:ext cx="4700400" cy="76326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200">
                <a:solidFill>
                  <a:srgbClr val="FFFFFF"/>
                </a:solidFill>
                <a:latin typeface="Arial"/>
                <a:ea typeface="Arial"/>
                <a:cs typeface="Arial"/>
                <a:sym typeface="Arial"/>
              </a:rPr>
              <a:t>Wide range, considerable variations from actual values</a:t>
            </a:r>
            <a:endParaRPr/>
          </a:p>
        </p:txBody>
      </p:sp>
      <p:sp>
        <p:nvSpPr>
          <p:cNvPr id="177" name="Google Shape;177;p24"/>
          <p:cNvSpPr txBox="1"/>
          <p:nvPr/>
        </p:nvSpPr>
        <p:spPr>
          <a:xfrm>
            <a:off x="5915283" y="8600574"/>
            <a:ext cx="4805847" cy="76326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200">
                <a:solidFill>
                  <a:srgbClr val="FFFFFF"/>
                </a:solidFill>
                <a:latin typeface="Arial"/>
                <a:ea typeface="Arial"/>
                <a:cs typeface="Arial"/>
                <a:sym typeface="Arial"/>
              </a:rPr>
              <a:t>Extremely negative predictions indicating  potential issues</a:t>
            </a:r>
            <a:endParaRPr/>
          </a:p>
        </p:txBody>
      </p:sp>
      <p:sp>
        <p:nvSpPr>
          <p:cNvPr id="178" name="Google Shape;178;p24"/>
          <p:cNvSpPr txBox="1"/>
          <p:nvPr/>
        </p:nvSpPr>
        <p:spPr>
          <a:xfrm>
            <a:off x="11759954" y="8571999"/>
            <a:ext cx="5499346" cy="76326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200">
                <a:solidFill>
                  <a:srgbClr val="FFFFFF"/>
                </a:solidFill>
                <a:latin typeface="Arial"/>
                <a:ea typeface="Arial"/>
                <a:cs typeface="Arial"/>
                <a:sym typeface="Arial"/>
              </a:rPr>
              <a:t>Prediction of same value for every instance indicating issues and limitation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82" name="Shape 182"/>
        <p:cNvGrpSpPr/>
        <p:nvPr/>
      </p:nvGrpSpPr>
      <p:grpSpPr>
        <a:xfrm>
          <a:off x="0" y="0"/>
          <a:ext cx="0" cy="0"/>
          <a:chOff x="0" y="0"/>
          <a:chExt cx="0" cy="0"/>
        </a:xfrm>
      </p:grpSpPr>
      <p:sp>
        <p:nvSpPr>
          <p:cNvPr id="183" name="Google Shape;183;p25"/>
          <p:cNvSpPr/>
          <p:nvPr/>
        </p:nvSpPr>
        <p:spPr>
          <a:xfrm>
            <a:off x="366372" y="2414534"/>
            <a:ext cx="5810518" cy="6266701"/>
          </a:xfrm>
          <a:custGeom>
            <a:rect b="b" l="l" r="r" t="t"/>
            <a:pathLst>
              <a:path extrusionOk="0" h="6266701" w="5810518">
                <a:moveTo>
                  <a:pt x="0" y="0"/>
                </a:moveTo>
                <a:lnTo>
                  <a:pt x="5810518" y="0"/>
                </a:lnTo>
                <a:lnTo>
                  <a:pt x="5810518" y="6266701"/>
                </a:lnTo>
                <a:lnTo>
                  <a:pt x="0" y="6266701"/>
                </a:lnTo>
                <a:lnTo>
                  <a:pt x="0" y="0"/>
                </a:lnTo>
                <a:close/>
              </a:path>
            </a:pathLst>
          </a:custGeom>
          <a:blipFill rotWithShape="1">
            <a:blip r:embed="rId3">
              <a:alphaModFix/>
            </a:blip>
            <a:stretch>
              <a:fillRect b="0" l="-36044" r="-360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25"/>
          <p:cNvSpPr txBox="1"/>
          <p:nvPr/>
        </p:nvSpPr>
        <p:spPr>
          <a:xfrm>
            <a:off x="5661660" y="358789"/>
            <a:ext cx="6964680" cy="62990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700">
                <a:solidFill>
                  <a:srgbClr val="FFFFFF"/>
                </a:solidFill>
                <a:latin typeface="Arial"/>
                <a:ea typeface="Arial"/>
                <a:cs typeface="Arial"/>
                <a:sym typeface="Arial"/>
              </a:rPr>
              <a:t>MODEL PREDICTION RESULTS</a:t>
            </a:r>
            <a:endParaRPr/>
          </a:p>
        </p:txBody>
      </p:sp>
      <p:sp>
        <p:nvSpPr>
          <p:cNvPr id="185" name="Google Shape;185;p25"/>
          <p:cNvSpPr txBox="1"/>
          <p:nvPr/>
        </p:nvSpPr>
        <p:spPr>
          <a:xfrm>
            <a:off x="1004681" y="1427613"/>
            <a:ext cx="4533900" cy="49783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Support Vector Machines</a:t>
            </a:r>
            <a:endParaRPr/>
          </a:p>
        </p:txBody>
      </p:sp>
      <p:sp>
        <p:nvSpPr>
          <p:cNvPr id="186" name="Google Shape;186;p25"/>
          <p:cNvSpPr txBox="1"/>
          <p:nvPr/>
        </p:nvSpPr>
        <p:spPr>
          <a:xfrm>
            <a:off x="6817466" y="2357384"/>
            <a:ext cx="10739705" cy="615569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SUCCESS.</a:t>
            </a:r>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The support vector machine model has succeeded in being the best model amongst all the models used for training and testing. </a:t>
            </a:r>
            <a:endParaRPr/>
          </a:p>
          <a:p>
            <a:pPr indent="0" lvl="0" marL="0" marR="0" rtl="0" algn="ctr">
              <a:lnSpc>
                <a:spcPct val="140000"/>
              </a:lnSpc>
              <a:spcBef>
                <a:spcPts val="0"/>
              </a:spcBef>
              <a:spcAft>
                <a:spcPts val="0"/>
              </a:spcAft>
              <a:buNone/>
            </a:pPr>
            <a:r>
              <a:t/>
            </a:r>
            <a:endParaRPr sz="29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Prediction Results: The 'Actual' column represents the true market values of players, while the 'Predicted' column represents the values predicted by your SVM regression model. </a:t>
            </a:r>
            <a:endParaRPr/>
          </a:p>
          <a:p>
            <a:pPr indent="0" lvl="0" marL="0" marR="0" rtl="0" algn="ctr">
              <a:lnSpc>
                <a:spcPct val="140000"/>
              </a:lnSpc>
              <a:spcBef>
                <a:spcPts val="0"/>
              </a:spcBef>
              <a:spcAft>
                <a:spcPts val="0"/>
              </a:spcAft>
              <a:buNone/>
            </a:pPr>
            <a:r>
              <a:t/>
            </a:r>
            <a:endParaRPr sz="29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The predicted values appear to be in the same order</a:t>
            </a:r>
            <a:endParaRPr/>
          </a:p>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of magnitude as the actual values, which is a positive sign.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90" name="Shape 190"/>
        <p:cNvGrpSpPr/>
        <p:nvPr/>
      </p:nvGrpSpPr>
      <p:grpSpPr>
        <a:xfrm>
          <a:off x="0" y="0"/>
          <a:ext cx="0" cy="0"/>
          <a:chOff x="0" y="0"/>
          <a:chExt cx="0" cy="0"/>
        </a:xfrm>
      </p:grpSpPr>
      <p:sp>
        <p:nvSpPr>
          <p:cNvPr id="191" name="Google Shape;191;p26"/>
          <p:cNvSpPr txBox="1"/>
          <p:nvPr/>
        </p:nvSpPr>
        <p:spPr>
          <a:xfrm>
            <a:off x="6987540" y="368314"/>
            <a:ext cx="4312920" cy="1012176"/>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CHAPTER 3:</a:t>
            </a:r>
            <a:endParaRPr/>
          </a:p>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RESULTS &amp; DISCUSSION</a:t>
            </a:r>
            <a:endParaRPr/>
          </a:p>
        </p:txBody>
      </p:sp>
      <p:sp>
        <p:nvSpPr>
          <p:cNvPr id="192" name="Google Shape;192;p26"/>
          <p:cNvSpPr txBox="1"/>
          <p:nvPr/>
        </p:nvSpPr>
        <p:spPr>
          <a:xfrm>
            <a:off x="910590" y="1660417"/>
            <a:ext cx="16466820" cy="51758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KEY FINDINGS ON RESEARCH QUESTIONS.</a:t>
            </a:r>
            <a:endParaRPr/>
          </a:p>
          <a:p>
            <a:pPr indent="0" lvl="0" marL="0" marR="0" rtl="0" algn="ctr">
              <a:lnSpc>
                <a:spcPct val="140000"/>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What are the major attributes influencing a football player's market value?</a:t>
            </a:r>
            <a:endParaRPr/>
          </a:p>
          <a:p>
            <a:pPr indent="0" lvl="0" marL="0" marR="0" rtl="0" algn="ctr">
              <a:lnSpc>
                <a:spcPct val="109375"/>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Age as a Determining Factor: Age significantly influences a player's market value, with prices peaking early </a:t>
            </a:r>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in a player's career. Younger players, often considered hot prospects, command higher prices due to their </a:t>
            </a:r>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potential  for improvement, prolonged influence on games, and higher return on investment (ROI).</a:t>
            </a:r>
            <a:endParaRPr/>
          </a:p>
          <a:p>
            <a:pPr indent="0" lvl="0" marL="0" marR="0" rtl="0" algn="ctr">
              <a:lnSpc>
                <a:spcPct val="140000"/>
              </a:lnSpc>
              <a:spcBef>
                <a:spcPts val="0"/>
              </a:spcBef>
              <a:spcAft>
                <a:spcPts val="0"/>
              </a:spcAft>
              <a:buNone/>
            </a:pPr>
            <a:r>
              <a:t/>
            </a:r>
            <a:endParaRPr sz="25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Global Events and Shifting Valuations: Events like the World Cup can trigger shifts in players' valuations.</a:t>
            </a:r>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 A nation's success in the World Cup attracts more interest from scouts and enhances the public perception</a:t>
            </a:r>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 of the country as a producer of high-quality talent.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196" name="Shape 196"/>
        <p:cNvGrpSpPr/>
        <p:nvPr/>
      </p:nvGrpSpPr>
      <p:grpSpPr>
        <a:xfrm>
          <a:off x="0" y="0"/>
          <a:ext cx="0" cy="0"/>
          <a:chOff x="0" y="0"/>
          <a:chExt cx="0" cy="0"/>
        </a:xfrm>
      </p:grpSpPr>
      <p:sp>
        <p:nvSpPr>
          <p:cNvPr id="197" name="Google Shape;197;p27"/>
          <p:cNvSpPr txBox="1"/>
          <p:nvPr/>
        </p:nvSpPr>
        <p:spPr>
          <a:xfrm>
            <a:off x="6987540" y="368314"/>
            <a:ext cx="4312920" cy="1012176"/>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CHAPTER 3:</a:t>
            </a:r>
            <a:endParaRPr/>
          </a:p>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RESULTS &amp; DISCUSSION</a:t>
            </a:r>
            <a:endParaRPr/>
          </a:p>
        </p:txBody>
      </p:sp>
      <p:sp>
        <p:nvSpPr>
          <p:cNvPr id="198" name="Google Shape;198;p27"/>
          <p:cNvSpPr txBox="1"/>
          <p:nvPr/>
        </p:nvSpPr>
        <p:spPr>
          <a:xfrm>
            <a:off x="0" y="1650892"/>
            <a:ext cx="18288000" cy="655193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399">
                <a:solidFill>
                  <a:srgbClr val="FFFFFF"/>
                </a:solidFill>
                <a:latin typeface="Arial"/>
                <a:ea typeface="Arial"/>
                <a:cs typeface="Arial"/>
                <a:sym typeface="Arial"/>
              </a:rPr>
              <a:t>KEY FINDINGS ON RESEARCH QUESTIONS.</a:t>
            </a:r>
            <a:endParaRPr/>
          </a:p>
          <a:p>
            <a:pPr indent="0" lvl="0" marL="0" marR="0" rtl="0" algn="ctr">
              <a:lnSpc>
                <a:spcPct val="140011"/>
              </a:lnSpc>
              <a:spcBef>
                <a:spcPts val="0"/>
              </a:spcBef>
              <a:spcAft>
                <a:spcPts val="0"/>
              </a:spcAft>
              <a:buNone/>
            </a:pPr>
            <a:r>
              <a:t/>
            </a:r>
            <a:endParaRPr sz="3399">
              <a:solidFill>
                <a:srgbClr val="FFFFFF"/>
              </a:solidFill>
              <a:latin typeface="Arial"/>
              <a:ea typeface="Arial"/>
              <a:cs typeface="Arial"/>
              <a:sym typeface="Arial"/>
            </a:endParaRPr>
          </a:p>
          <a:p>
            <a:pPr indent="0" lvl="0" marL="0" marR="0" rtl="0" algn="ctr">
              <a:lnSpc>
                <a:spcPct val="140011"/>
              </a:lnSpc>
              <a:spcBef>
                <a:spcPts val="0"/>
              </a:spcBef>
              <a:spcAft>
                <a:spcPts val="0"/>
              </a:spcAft>
              <a:buNone/>
            </a:pPr>
            <a:r>
              <a:rPr lang="en-US" sz="3399">
                <a:solidFill>
                  <a:srgbClr val="FFFFFF"/>
                </a:solidFill>
                <a:latin typeface="Arial"/>
                <a:ea typeface="Arial"/>
                <a:cs typeface="Arial"/>
                <a:sym typeface="Arial"/>
              </a:rPr>
              <a:t>What are the factors contributing to effective player performance evaluation  ?</a:t>
            </a:r>
            <a:endParaRPr/>
          </a:p>
          <a:p>
            <a:pPr indent="0" lvl="0" marL="0" marR="0" rtl="0" algn="ctr">
              <a:lnSpc>
                <a:spcPct val="111209"/>
              </a:lnSpc>
              <a:spcBef>
                <a:spcPts val="0"/>
              </a:spcBef>
              <a:spcAft>
                <a:spcPts val="0"/>
              </a:spcAft>
              <a:buNone/>
            </a:pPr>
            <a:r>
              <a:t/>
            </a:r>
            <a:endParaRPr sz="3399">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Skill Correlation with Market Value: To differentiate between attackers and defenders, key skills like ball control and dribbling show the highest correlation with attackers' valuation. </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For defenders, skills related to direct defensive actions, such as tackling and interceptions, hold the highest correlation.</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Background and Belief in Success: A player's background, including the club, league, playing position, nationality, national team participation, and years left in the contract, contributes to the market belief in their likelihood of success.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202" name="Shape 202"/>
        <p:cNvGrpSpPr/>
        <p:nvPr/>
      </p:nvGrpSpPr>
      <p:grpSpPr>
        <a:xfrm>
          <a:off x="0" y="0"/>
          <a:ext cx="0" cy="0"/>
          <a:chOff x="0" y="0"/>
          <a:chExt cx="0" cy="0"/>
        </a:xfrm>
      </p:grpSpPr>
      <p:sp>
        <p:nvSpPr>
          <p:cNvPr id="203" name="Google Shape;203;p28"/>
          <p:cNvSpPr/>
          <p:nvPr/>
        </p:nvSpPr>
        <p:spPr>
          <a:xfrm>
            <a:off x="9772994" y="1567754"/>
            <a:ext cx="8122973" cy="6080941"/>
          </a:xfrm>
          <a:custGeom>
            <a:rect b="b" l="l" r="r" t="t"/>
            <a:pathLst>
              <a:path extrusionOk="0" h="6080941" w="8122973">
                <a:moveTo>
                  <a:pt x="0" y="0"/>
                </a:moveTo>
                <a:lnTo>
                  <a:pt x="8122972" y="0"/>
                </a:lnTo>
                <a:lnTo>
                  <a:pt x="8122972" y="6080941"/>
                </a:lnTo>
                <a:lnTo>
                  <a:pt x="0" y="6080941"/>
                </a:lnTo>
                <a:lnTo>
                  <a:pt x="0" y="0"/>
                </a:lnTo>
                <a:close/>
              </a:path>
            </a:pathLst>
          </a:custGeom>
          <a:blipFill rotWithShape="1">
            <a:blip r:embed="rId3">
              <a:alphaModFix/>
            </a:blip>
            <a:stretch>
              <a:fillRect b="0" l="-635" r="-63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28"/>
          <p:cNvSpPr txBox="1"/>
          <p:nvPr/>
        </p:nvSpPr>
        <p:spPr>
          <a:xfrm>
            <a:off x="7018020" y="368314"/>
            <a:ext cx="4251960" cy="97661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800">
                <a:solidFill>
                  <a:srgbClr val="FFFFFF"/>
                </a:solidFill>
                <a:latin typeface="Arial"/>
                <a:ea typeface="Arial"/>
                <a:cs typeface="Arial"/>
                <a:sym typeface="Arial"/>
              </a:rPr>
              <a:t>CHAPTER 3:</a:t>
            </a:r>
            <a:endParaRPr/>
          </a:p>
          <a:p>
            <a:pPr indent="0" lvl="0" marL="0" marR="0" rtl="0" algn="ctr">
              <a:lnSpc>
                <a:spcPct val="140000"/>
              </a:lnSpc>
              <a:spcBef>
                <a:spcPts val="0"/>
              </a:spcBef>
              <a:spcAft>
                <a:spcPts val="0"/>
              </a:spcAft>
              <a:buNone/>
            </a:pPr>
            <a:r>
              <a:rPr lang="en-US" sz="2800">
                <a:solidFill>
                  <a:srgbClr val="FFFFFF"/>
                </a:solidFill>
                <a:latin typeface="Arial"/>
                <a:ea typeface="Arial"/>
                <a:cs typeface="Arial"/>
                <a:sym typeface="Arial"/>
              </a:rPr>
              <a:t>RESULTS &amp; DISCUSSION</a:t>
            </a:r>
            <a:endParaRPr/>
          </a:p>
        </p:txBody>
      </p:sp>
      <p:sp>
        <p:nvSpPr>
          <p:cNvPr id="205" name="Google Shape;205;p28"/>
          <p:cNvSpPr txBox="1"/>
          <p:nvPr/>
        </p:nvSpPr>
        <p:spPr>
          <a:xfrm>
            <a:off x="215247" y="1710719"/>
            <a:ext cx="8526331" cy="573786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KEY FINDINGS ON RESEARCH QUESTIONS.</a:t>
            </a:r>
            <a:endParaRPr/>
          </a:p>
          <a:p>
            <a:pPr indent="0" lvl="0" marL="0" marR="0" rtl="0" algn="ctr">
              <a:lnSpc>
                <a:spcPct val="140000"/>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3200">
                <a:solidFill>
                  <a:srgbClr val="FFFFFF"/>
                </a:solidFill>
                <a:latin typeface="Arial"/>
                <a:ea typeface="Arial"/>
                <a:cs typeface="Arial"/>
                <a:sym typeface="Arial"/>
              </a:rPr>
              <a:t>What machine learning is best to predict market value and performance?</a:t>
            </a:r>
            <a:endParaRPr/>
          </a:p>
          <a:p>
            <a:pPr indent="0" lvl="0" marL="0" marR="0" rtl="0" algn="ctr">
              <a:lnSpc>
                <a:spcPct val="109375"/>
              </a:lnSpc>
              <a:spcBef>
                <a:spcPts val="0"/>
              </a:spcBef>
              <a:spcAft>
                <a:spcPts val="0"/>
              </a:spcAft>
              <a:buNone/>
            </a:pPr>
            <a:r>
              <a:t/>
            </a:r>
            <a:endParaRPr sz="32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The support vector machine model has succeeded in being the best model amongst</a:t>
            </a:r>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all the models used for training and testing.</a:t>
            </a:r>
            <a:endParaRPr/>
          </a:p>
          <a:p>
            <a:pPr indent="0" lvl="0" marL="0" marR="0" rtl="0" algn="ctr">
              <a:lnSpc>
                <a:spcPct val="140000"/>
              </a:lnSpc>
              <a:spcBef>
                <a:spcPts val="0"/>
              </a:spcBef>
              <a:spcAft>
                <a:spcPts val="0"/>
              </a:spcAft>
              <a:buNone/>
            </a:pPr>
            <a:r>
              <a:t/>
            </a:r>
            <a:endParaRPr sz="25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The predicted values appear to be in the same order of magnitude as the actual values, </a:t>
            </a:r>
            <a:endParaRPr/>
          </a:p>
          <a:p>
            <a:pPr indent="0" lvl="0" marL="0" marR="0" rtl="0" algn="ctr">
              <a:lnSpc>
                <a:spcPct val="140000"/>
              </a:lnSpc>
              <a:spcBef>
                <a:spcPts val="0"/>
              </a:spcBef>
              <a:spcAft>
                <a:spcPts val="0"/>
              </a:spcAft>
              <a:buNone/>
            </a:pPr>
            <a:r>
              <a:rPr lang="en-US" sz="2500">
                <a:solidFill>
                  <a:srgbClr val="FFFFFF"/>
                </a:solidFill>
                <a:latin typeface="Arial"/>
                <a:ea typeface="Arial"/>
                <a:cs typeface="Arial"/>
                <a:sym typeface="Arial"/>
              </a:rPr>
              <a:t>which is a positive sign.</a:t>
            </a:r>
            <a:endParaRPr/>
          </a:p>
        </p:txBody>
      </p:sp>
      <p:sp>
        <p:nvSpPr>
          <p:cNvPr id="206" name="Google Shape;206;p28"/>
          <p:cNvSpPr txBox="1"/>
          <p:nvPr/>
        </p:nvSpPr>
        <p:spPr>
          <a:xfrm>
            <a:off x="10165027" y="7610595"/>
            <a:ext cx="8122973" cy="81533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400">
                <a:solidFill>
                  <a:srgbClr val="FFFFFF"/>
                </a:solidFill>
                <a:latin typeface="Arial"/>
                <a:ea typeface="Arial"/>
                <a:cs typeface="Arial"/>
                <a:sym typeface="Arial"/>
              </a:rPr>
              <a:t>The red dashed line represents perfect alignment. Points closer to the line represent better predictions.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210" name="Shape 210"/>
        <p:cNvGrpSpPr/>
        <p:nvPr/>
      </p:nvGrpSpPr>
      <p:grpSpPr>
        <a:xfrm>
          <a:off x="0" y="0"/>
          <a:ext cx="0" cy="0"/>
          <a:chOff x="0" y="0"/>
          <a:chExt cx="0" cy="0"/>
        </a:xfrm>
      </p:grpSpPr>
      <p:sp>
        <p:nvSpPr>
          <p:cNvPr id="211" name="Google Shape;211;p29"/>
          <p:cNvSpPr txBox="1"/>
          <p:nvPr/>
        </p:nvSpPr>
        <p:spPr>
          <a:xfrm>
            <a:off x="6987540" y="368314"/>
            <a:ext cx="4312920" cy="101217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900">
                <a:solidFill>
                  <a:srgbClr val="FFFFFF"/>
                </a:solidFill>
                <a:latin typeface="Arial"/>
                <a:ea typeface="Arial"/>
                <a:cs typeface="Arial"/>
                <a:sym typeface="Arial"/>
              </a:rPr>
              <a:t>CHAPTER 3:</a:t>
            </a:r>
            <a:endParaRPr/>
          </a:p>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RESULTS &amp; DISCUSSION</a:t>
            </a:r>
            <a:endParaRPr/>
          </a:p>
        </p:txBody>
      </p:sp>
      <p:sp>
        <p:nvSpPr>
          <p:cNvPr id="212" name="Google Shape;212;p29"/>
          <p:cNvSpPr txBox="1"/>
          <p:nvPr/>
        </p:nvSpPr>
        <p:spPr>
          <a:xfrm>
            <a:off x="8061960" y="1571654"/>
            <a:ext cx="2164080" cy="497839"/>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LIMITATION</a:t>
            </a:r>
            <a:endParaRPr/>
          </a:p>
        </p:txBody>
      </p:sp>
      <p:sp>
        <p:nvSpPr>
          <p:cNvPr id="213" name="Google Shape;213;p29"/>
          <p:cNvSpPr txBox="1"/>
          <p:nvPr/>
        </p:nvSpPr>
        <p:spPr>
          <a:xfrm>
            <a:off x="1322070" y="2238403"/>
            <a:ext cx="15643860" cy="522732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Decision Tree and Lasso models exhibit wide prediction ranges, indicating potential overfitting.</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Same Value Predictions in Gradient Boosting Model.</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Negative Predictions in Lasso Model.</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Memory Issues: The “</a:t>
            </a:r>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Memory Error ” indicates that there is not enough memory and processor to</a:t>
            </a:r>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allocate for array with shape (515,310866) and higher.</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I had to reduce the number of features in the models to remedy memory issues.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217" name="Shape 217"/>
        <p:cNvGrpSpPr/>
        <p:nvPr/>
      </p:nvGrpSpPr>
      <p:grpSpPr>
        <a:xfrm>
          <a:off x="0" y="0"/>
          <a:ext cx="0" cy="0"/>
          <a:chOff x="0" y="0"/>
          <a:chExt cx="0" cy="0"/>
        </a:xfrm>
      </p:grpSpPr>
      <p:sp>
        <p:nvSpPr>
          <p:cNvPr id="218" name="Google Shape;218;p30"/>
          <p:cNvSpPr txBox="1"/>
          <p:nvPr/>
        </p:nvSpPr>
        <p:spPr>
          <a:xfrm>
            <a:off x="6987540" y="368314"/>
            <a:ext cx="4312920" cy="1012176"/>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CHAPTER 3:</a:t>
            </a:r>
            <a:endParaRPr/>
          </a:p>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RESULTS &amp; DISCUSSION</a:t>
            </a:r>
            <a:endParaRPr/>
          </a:p>
        </p:txBody>
      </p:sp>
      <p:sp>
        <p:nvSpPr>
          <p:cNvPr id="219" name="Google Shape;219;p30"/>
          <p:cNvSpPr txBox="1"/>
          <p:nvPr/>
        </p:nvSpPr>
        <p:spPr>
          <a:xfrm>
            <a:off x="7254240" y="1571654"/>
            <a:ext cx="3779520" cy="497839"/>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lang="en-US" sz="2800">
                <a:solidFill>
                  <a:srgbClr val="FFFFFF"/>
                </a:solidFill>
                <a:latin typeface="Arial"/>
                <a:ea typeface="Arial"/>
                <a:cs typeface="Arial"/>
                <a:sym typeface="Arial"/>
              </a:rPr>
              <a:t>FUTURE DIRECTIONS</a:t>
            </a:r>
            <a:endParaRPr/>
          </a:p>
        </p:txBody>
      </p:sp>
      <p:sp>
        <p:nvSpPr>
          <p:cNvPr id="220" name="Google Shape;220;p30"/>
          <p:cNvSpPr txBox="1"/>
          <p:nvPr/>
        </p:nvSpPr>
        <p:spPr>
          <a:xfrm>
            <a:off x="0" y="2238403"/>
            <a:ext cx="18288000" cy="67899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The football player market is dynamic, with player valuations changing over time. </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The project's outcomes not only contribute to the advancement of predictive modeling in football player valuation but also provide actionable insights for stakeholders navigating the complex and dynamic world of professional football.</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This project provides the following opportunities in the future:</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291467" lvl="1" marL="582933" marR="0" rtl="0" algn="ctr">
              <a:lnSpc>
                <a:spcPct val="140000"/>
              </a:lnSpc>
              <a:spcBef>
                <a:spcPts val="0"/>
              </a:spcBef>
              <a:spcAft>
                <a:spcPts val="0"/>
              </a:spcAft>
              <a:buClr>
                <a:srgbClr val="FFFFFF"/>
              </a:buClr>
              <a:buSzPts val="2700"/>
              <a:buFont typeface="Arial"/>
              <a:buChar char="•"/>
            </a:pPr>
            <a:r>
              <a:rPr b="0" i="0" lang="en-US" sz="2700" u="none" cap="none" strike="noStrike">
                <a:solidFill>
                  <a:srgbClr val="FFFFFF"/>
                </a:solidFill>
                <a:latin typeface="Arial"/>
                <a:ea typeface="Arial"/>
                <a:cs typeface="Arial"/>
                <a:sym typeface="Arial"/>
              </a:rPr>
              <a:t>Real-time Market Value Prediction Tools.</a:t>
            </a:r>
            <a:endParaRPr/>
          </a:p>
          <a:p>
            <a:pPr indent="-291467" lvl="1" marL="582933" marR="0" rtl="0" algn="ctr">
              <a:lnSpc>
                <a:spcPct val="140000"/>
              </a:lnSpc>
              <a:spcBef>
                <a:spcPts val="0"/>
              </a:spcBef>
              <a:spcAft>
                <a:spcPts val="0"/>
              </a:spcAft>
              <a:buClr>
                <a:srgbClr val="FFFFFF"/>
              </a:buClr>
              <a:buSzPts val="2700"/>
              <a:buFont typeface="Arial"/>
              <a:buChar char="•"/>
            </a:pPr>
            <a:r>
              <a:rPr b="0" i="0" lang="en-US" sz="2700" u="none" cap="none" strike="noStrike">
                <a:solidFill>
                  <a:srgbClr val="FFFFFF"/>
                </a:solidFill>
                <a:latin typeface="Arial"/>
                <a:ea typeface="Arial"/>
                <a:cs typeface="Arial"/>
                <a:sym typeface="Arial"/>
              </a:rPr>
              <a:t>Collaboration with Industry Experts.</a:t>
            </a:r>
            <a:endParaRPr/>
          </a:p>
          <a:p>
            <a:pPr indent="0" lvl="0" marL="0" marR="0" rtl="0" algn="ctr">
              <a:lnSpc>
                <a:spcPct val="140000"/>
              </a:lnSpc>
              <a:spcBef>
                <a:spcPts val="0"/>
              </a:spcBef>
              <a:spcAft>
                <a:spcPts val="0"/>
              </a:spcAft>
              <a:buNone/>
            </a:pPr>
            <a:r>
              <a:t/>
            </a:r>
            <a:endParaRPr sz="2700">
              <a:solidFill>
                <a:srgbClr val="FFFFFF"/>
              </a:solidFill>
              <a:latin typeface="Arial"/>
              <a:ea typeface="Arial"/>
              <a:cs typeface="Arial"/>
              <a:sym typeface="Arial"/>
            </a:endParaRPr>
          </a:p>
          <a:p>
            <a:pPr indent="0" lvl="0" marL="0" marR="0" rtl="0" algn="ctr">
              <a:lnSpc>
                <a:spcPct val="140000"/>
              </a:lnSpc>
              <a:spcBef>
                <a:spcPts val="0"/>
              </a:spcBef>
              <a:spcAft>
                <a:spcPts val="0"/>
              </a:spcAft>
              <a:buNone/>
            </a:pPr>
            <a:r>
              <a:rPr lang="en-US" sz="2700">
                <a:solidFill>
                  <a:srgbClr val="FFFFFF"/>
                </a:solidFill>
                <a:latin typeface="Arial"/>
                <a:ea typeface="Arial"/>
                <a:cs typeface="Arial"/>
                <a:sym typeface="Arial"/>
              </a:rPr>
              <a:t>By pursuing these future directions, researchers can contribute to the continual improvement of football player market value prediction models, making them more accurate, interpretable, and adaptable to the dynamic nature of the football industry.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416F"/>
        </a:solidFill>
      </p:bgPr>
    </p:bg>
    <p:spTree>
      <p:nvGrpSpPr>
        <p:cNvPr id="224" name="Shape 224"/>
        <p:cNvGrpSpPr/>
        <p:nvPr/>
      </p:nvGrpSpPr>
      <p:grpSpPr>
        <a:xfrm>
          <a:off x="0" y="0"/>
          <a:ext cx="0" cy="0"/>
          <a:chOff x="0" y="0"/>
          <a:chExt cx="0" cy="0"/>
        </a:xfrm>
      </p:grpSpPr>
      <p:sp>
        <p:nvSpPr>
          <p:cNvPr id="225" name="Google Shape;225;p31"/>
          <p:cNvSpPr txBox="1"/>
          <p:nvPr/>
        </p:nvSpPr>
        <p:spPr>
          <a:xfrm>
            <a:off x="6137910" y="4762507"/>
            <a:ext cx="6012180" cy="136841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8000">
                <a:solidFill>
                  <a:srgbClr val="FFFFFF"/>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